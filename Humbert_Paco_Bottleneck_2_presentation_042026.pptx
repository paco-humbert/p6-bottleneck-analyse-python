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315FC2-476A-4A17-99C8-4FC0317457E9}" v="22" dt="2026-06-25T10:42:03.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4" autoAdjust="0"/>
    <p:restoredTop sz="94610"/>
  </p:normalViewPr>
  <p:slideViewPr>
    <p:cSldViewPr snapToGrid="0" snapToObjects="1">
      <p:cViewPr varScale="1">
        <p:scale>
          <a:sx n="100" d="100"/>
          <a:sy n="100" d="100"/>
        </p:scale>
        <p:origin x="9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co humbert" userId="a6eb4eecb000ffd6" providerId="LiveId" clId="{09DE1239-541D-4ED2-A976-E0181688493A}"/>
    <pc:docChg chg="undo redo custSel modSld modMainMaster">
      <pc:chgData name="paco humbert" userId="a6eb4eecb000ffd6" providerId="LiveId" clId="{09DE1239-541D-4ED2-A976-E0181688493A}" dt="2026-06-25T10:49:50.994" v="246" actId="20577"/>
      <pc:docMkLst>
        <pc:docMk/>
      </pc:docMkLst>
      <pc:sldChg chg="addSp modSp mod">
        <pc:chgData name="paco humbert" userId="a6eb4eecb000ffd6" providerId="LiveId" clId="{09DE1239-541D-4ED2-A976-E0181688493A}" dt="2026-06-25T10:42:06.930" v="151" actId="1076"/>
        <pc:sldMkLst>
          <pc:docMk/>
          <pc:sldMk cId="0" sldId="256"/>
        </pc:sldMkLst>
        <pc:picChg chg="add mod">
          <ac:chgData name="paco humbert" userId="a6eb4eecb000ffd6" providerId="LiveId" clId="{09DE1239-541D-4ED2-A976-E0181688493A}" dt="2026-06-25T10:42:06.930" v="151" actId="1076"/>
          <ac:picMkLst>
            <pc:docMk/>
            <pc:sldMk cId="0" sldId="256"/>
            <ac:picMk id="9" creationId="{CD471ABD-737C-2F49-4A89-33AC00DBA0CD}"/>
          </ac:picMkLst>
        </pc:picChg>
      </pc:sldChg>
      <pc:sldChg chg="addSp modSp mod setBg">
        <pc:chgData name="paco humbert" userId="a6eb4eecb000ffd6" providerId="LiveId" clId="{09DE1239-541D-4ED2-A976-E0181688493A}" dt="2026-06-25T10:42:27.647" v="155" actId="20577"/>
        <pc:sldMkLst>
          <pc:docMk/>
          <pc:sldMk cId="0" sldId="257"/>
        </pc:sldMkLst>
        <pc:spChg chg="mod">
          <ac:chgData name="paco humbert" userId="a6eb4eecb000ffd6" providerId="LiveId" clId="{09DE1239-541D-4ED2-A976-E0181688493A}" dt="2026-06-23T10:20:33.946" v="32" actId="1076"/>
          <ac:spMkLst>
            <pc:docMk/>
            <pc:sldMk cId="0" sldId="257"/>
            <ac:spMk id="5" creationId="{00000000-0000-0000-0000-000000000000}"/>
          </ac:spMkLst>
        </pc:spChg>
        <pc:spChg chg="mod">
          <ac:chgData name="paco humbert" userId="a6eb4eecb000ffd6" providerId="LiveId" clId="{09DE1239-541D-4ED2-A976-E0181688493A}" dt="2026-06-23T10:21:02.092" v="38" actId="1076"/>
          <ac:spMkLst>
            <pc:docMk/>
            <pc:sldMk cId="0" sldId="257"/>
            <ac:spMk id="6" creationId="{00000000-0000-0000-0000-000000000000}"/>
          </ac:spMkLst>
        </pc:spChg>
        <pc:spChg chg="mod">
          <ac:chgData name="paco humbert" userId="a6eb4eecb000ffd6" providerId="LiveId" clId="{09DE1239-541D-4ED2-A976-E0181688493A}" dt="2026-06-23T10:20:48.110" v="35" actId="1076"/>
          <ac:spMkLst>
            <pc:docMk/>
            <pc:sldMk cId="0" sldId="257"/>
            <ac:spMk id="7" creationId="{00000000-0000-0000-0000-000000000000}"/>
          </ac:spMkLst>
        </pc:spChg>
        <pc:spChg chg="mod">
          <ac:chgData name="paco humbert" userId="a6eb4eecb000ffd6" providerId="LiveId" clId="{09DE1239-541D-4ED2-A976-E0181688493A}" dt="2026-06-25T10:42:25.174" v="153" actId="20577"/>
          <ac:spMkLst>
            <pc:docMk/>
            <pc:sldMk cId="0" sldId="257"/>
            <ac:spMk id="8" creationId="{00000000-0000-0000-0000-000000000000}"/>
          </ac:spMkLst>
        </pc:spChg>
        <pc:spChg chg="mod">
          <ac:chgData name="paco humbert" userId="a6eb4eecb000ffd6" providerId="LiveId" clId="{09DE1239-541D-4ED2-A976-E0181688493A}" dt="2026-06-23T10:20:53.933" v="37" actId="1076"/>
          <ac:spMkLst>
            <pc:docMk/>
            <pc:sldMk cId="0" sldId="257"/>
            <ac:spMk id="9" creationId="{00000000-0000-0000-0000-000000000000}"/>
          </ac:spMkLst>
        </pc:spChg>
        <pc:spChg chg="mod">
          <ac:chgData name="paco humbert" userId="a6eb4eecb000ffd6" providerId="LiveId" clId="{09DE1239-541D-4ED2-A976-E0181688493A}" dt="2026-06-23T10:20:50.907" v="36" actId="1076"/>
          <ac:spMkLst>
            <pc:docMk/>
            <pc:sldMk cId="0" sldId="257"/>
            <ac:spMk id="10" creationId="{00000000-0000-0000-0000-000000000000}"/>
          </ac:spMkLst>
        </pc:spChg>
        <pc:spChg chg="mod">
          <ac:chgData name="paco humbert" userId="a6eb4eecb000ffd6" providerId="LiveId" clId="{09DE1239-541D-4ED2-A976-E0181688493A}" dt="2026-06-25T10:42:27.647" v="155" actId="20577"/>
          <ac:spMkLst>
            <pc:docMk/>
            <pc:sldMk cId="0" sldId="257"/>
            <ac:spMk id="11" creationId="{00000000-0000-0000-0000-000000000000}"/>
          </ac:spMkLst>
        </pc:spChg>
        <pc:picChg chg="add">
          <ac:chgData name="paco humbert" userId="a6eb4eecb000ffd6" providerId="LiveId" clId="{09DE1239-541D-4ED2-A976-E0181688493A}" dt="2026-06-25T10:38:32.319" v="115" actId="22"/>
          <ac:picMkLst>
            <pc:docMk/>
            <pc:sldMk cId="0" sldId="257"/>
            <ac:picMk id="13" creationId="{0BA0FDD6-8160-F9BA-891E-F051DCB4F7AD}"/>
          </ac:picMkLst>
        </pc:picChg>
      </pc:sldChg>
      <pc:sldChg chg="addSp modSp mod setBg">
        <pc:chgData name="paco humbert" userId="a6eb4eecb000ffd6" providerId="LiveId" clId="{09DE1239-541D-4ED2-A976-E0181688493A}" dt="2026-06-25T10:43:00.527" v="168" actId="20577"/>
        <pc:sldMkLst>
          <pc:docMk/>
          <pc:sldMk cId="0" sldId="258"/>
        </pc:sldMkLst>
        <pc:spChg chg="mod">
          <ac:chgData name="paco humbert" userId="a6eb4eecb000ffd6" providerId="LiveId" clId="{09DE1239-541D-4ED2-A976-E0181688493A}" dt="2026-06-25T10:31:24.235" v="105" actId="20577"/>
          <ac:spMkLst>
            <pc:docMk/>
            <pc:sldMk cId="0" sldId="258"/>
            <ac:spMk id="5" creationId="{00000000-0000-0000-0000-000000000000}"/>
          </ac:spMkLst>
        </pc:spChg>
        <pc:spChg chg="mod">
          <ac:chgData name="paco humbert" userId="a6eb4eecb000ffd6" providerId="LiveId" clId="{09DE1239-541D-4ED2-A976-E0181688493A}" dt="2026-06-25T10:31:27.962" v="109" actId="20577"/>
          <ac:spMkLst>
            <pc:docMk/>
            <pc:sldMk cId="0" sldId="258"/>
            <ac:spMk id="9" creationId="{00000000-0000-0000-0000-000000000000}"/>
          </ac:spMkLst>
        </pc:spChg>
        <pc:spChg chg="mod">
          <ac:chgData name="paco humbert" userId="a6eb4eecb000ffd6" providerId="LiveId" clId="{09DE1239-541D-4ED2-A976-E0181688493A}" dt="2026-06-25T10:43:00.527" v="168" actId="20577"/>
          <ac:spMkLst>
            <pc:docMk/>
            <pc:sldMk cId="0" sldId="258"/>
            <ac:spMk id="13" creationId="{00000000-0000-0000-0000-000000000000}"/>
          </ac:spMkLst>
        </pc:spChg>
        <pc:picChg chg="add">
          <ac:chgData name="paco humbert" userId="a6eb4eecb000ffd6" providerId="LiveId" clId="{09DE1239-541D-4ED2-A976-E0181688493A}" dt="2026-06-25T10:38:35.889" v="116" actId="22"/>
          <ac:picMkLst>
            <pc:docMk/>
            <pc:sldMk cId="0" sldId="258"/>
            <ac:picMk id="15" creationId="{0CE15D9F-EFE7-8DC4-1693-0F3AF19536C2}"/>
          </ac:picMkLst>
        </pc:picChg>
      </pc:sldChg>
      <pc:sldChg chg="addSp modSp mod setBg">
        <pc:chgData name="paco humbert" userId="a6eb4eecb000ffd6" providerId="LiveId" clId="{09DE1239-541D-4ED2-A976-E0181688493A}" dt="2026-06-25T10:43:29.450" v="172" actId="1076"/>
        <pc:sldMkLst>
          <pc:docMk/>
          <pc:sldMk cId="0" sldId="259"/>
        </pc:sldMkLst>
        <pc:spChg chg="mod">
          <ac:chgData name="paco humbert" userId="a6eb4eecb000ffd6" providerId="LiveId" clId="{09DE1239-541D-4ED2-A976-E0181688493A}" dt="2026-06-25T10:43:22.252" v="171" actId="1076"/>
          <ac:spMkLst>
            <pc:docMk/>
            <pc:sldMk cId="0" sldId="259"/>
            <ac:spMk id="21" creationId="{00000000-0000-0000-0000-000000000000}"/>
          </ac:spMkLst>
        </pc:spChg>
        <pc:spChg chg="mod">
          <ac:chgData name="paco humbert" userId="a6eb4eecb000ffd6" providerId="LiveId" clId="{09DE1239-541D-4ED2-A976-E0181688493A}" dt="2026-06-25T10:43:18.927" v="170" actId="1076"/>
          <ac:spMkLst>
            <pc:docMk/>
            <pc:sldMk cId="0" sldId="259"/>
            <ac:spMk id="22" creationId="{00000000-0000-0000-0000-000000000000}"/>
          </ac:spMkLst>
        </pc:spChg>
        <pc:spChg chg="mod">
          <ac:chgData name="paco humbert" userId="a6eb4eecb000ffd6" providerId="LiveId" clId="{09DE1239-541D-4ED2-A976-E0181688493A}" dt="2026-06-25T10:43:29.450" v="172" actId="1076"/>
          <ac:spMkLst>
            <pc:docMk/>
            <pc:sldMk cId="0" sldId="259"/>
            <ac:spMk id="23" creationId="{00000000-0000-0000-0000-000000000000}"/>
          </ac:spMkLst>
        </pc:spChg>
        <pc:picChg chg="add">
          <ac:chgData name="paco humbert" userId="a6eb4eecb000ffd6" providerId="LiveId" clId="{09DE1239-541D-4ED2-A976-E0181688493A}" dt="2026-06-25T10:38:37.108" v="117" actId="22"/>
          <ac:picMkLst>
            <pc:docMk/>
            <pc:sldMk cId="0" sldId="259"/>
            <ac:picMk id="26" creationId="{6C2F5586-3A7D-EF2C-DCAB-1D30C986A688}"/>
          </ac:picMkLst>
        </pc:picChg>
      </pc:sldChg>
      <pc:sldChg chg="addSp modSp mod setBg">
        <pc:chgData name="paco humbert" userId="a6eb4eecb000ffd6" providerId="LiveId" clId="{09DE1239-541D-4ED2-A976-E0181688493A}" dt="2026-06-25T10:43:44.508" v="175" actId="1076"/>
        <pc:sldMkLst>
          <pc:docMk/>
          <pc:sldMk cId="0" sldId="260"/>
        </pc:sldMkLst>
        <pc:spChg chg="mod">
          <ac:chgData name="paco humbert" userId="a6eb4eecb000ffd6" providerId="LiveId" clId="{09DE1239-541D-4ED2-A976-E0181688493A}" dt="2026-06-25T10:43:44.508" v="175" actId="1076"/>
          <ac:spMkLst>
            <pc:docMk/>
            <pc:sldMk cId="0" sldId="260"/>
            <ac:spMk id="29" creationId="{00000000-0000-0000-0000-000000000000}"/>
          </ac:spMkLst>
        </pc:spChg>
        <pc:picChg chg="add">
          <ac:chgData name="paco humbert" userId="a6eb4eecb000ffd6" providerId="LiveId" clId="{09DE1239-541D-4ED2-A976-E0181688493A}" dt="2026-06-25T10:38:38.300" v="118" actId="22"/>
          <ac:picMkLst>
            <pc:docMk/>
            <pc:sldMk cId="0" sldId="260"/>
            <ac:picMk id="32" creationId="{8440290F-E625-6C67-668B-348EFF8ED884}"/>
          </ac:picMkLst>
        </pc:picChg>
      </pc:sldChg>
      <pc:sldChg chg="addSp modSp mod setBg">
        <pc:chgData name="paco humbert" userId="a6eb4eecb000ffd6" providerId="LiveId" clId="{09DE1239-541D-4ED2-A976-E0181688493A}" dt="2026-06-25T10:44:28.498" v="182" actId="1076"/>
        <pc:sldMkLst>
          <pc:docMk/>
          <pc:sldMk cId="0" sldId="261"/>
        </pc:sldMkLst>
        <pc:spChg chg="mod">
          <ac:chgData name="paco humbert" userId="a6eb4eecb000ffd6" providerId="LiveId" clId="{09DE1239-541D-4ED2-A976-E0181688493A}" dt="2026-06-25T10:44:18.673" v="179" actId="1076"/>
          <ac:spMkLst>
            <pc:docMk/>
            <pc:sldMk cId="0" sldId="261"/>
            <ac:spMk id="6" creationId="{00000000-0000-0000-0000-000000000000}"/>
          </ac:spMkLst>
        </pc:spChg>
        <pc:spChg chg="mod">
          <ac:chgData name="paco humbert" userId="a6eb4eecb000ffd6" providerId="LiveId" clId="{09DE1239-541D-4ED2-A976-E0181688493A}" dt="2026-06-25T10:44:15.299" v="178" actId="1076"/>
          <ac:spMkLst>
            <pc:docMk/>
            <pc:sldMk cId="0" sldId="261"/>
            <ac:spMk id="7" creationId="{00000000-0000-0000-0000-000000000000}"/>
          </ac:spMkLst>
        </pc:spChg>
        <pc:spChg chg="mod">
          <ac:chgData name="paco humbert" userId="a6eb4eecb000ffd6" providerId="LiveId" clId="{09DE1239-541D-4ED2-A976-E0181688493A}" dt="2026-06-25T10:44:28.498" v="182" actId="1076"/>
          <ac:spMkLst>
            <pc:docMk/>
            <pc:sldMk cId="0" sldId="261"/>
            <ac:spMk id="8" creationId="{00000000-0000-0000-0000-000000000000}"/>
          </ac:spMkLst>
        </pc:spChg>
        <pc:graphicFrameChg chg="mod">
          <ac:chgData name="paco humbert" userId="a6eb4eecb000ffd6" providerId="LiveId" clId="{09DE1239-541D-4ED2-A976-E0181688493A}" dt="2026-06-25T10:44:07.246" v="176" actId="1076"/>
          <ac:graphicFrameMkLst>
            <pc:docMk/>
            <pc:sldMk cId="0" sldId="261"/>
            <ac:graphicFrameMk id="5" creationId="{00000000-0000-0000-0000-000000000000}"/>
          </ac:graphicFrameMkLst>
        </pc:graphicFrameChg>
        <pc:picChg chg="add">
          <ac:chgData name="paco humbert" userId="a6eb4eecb000ffd6" providerId="LiveId" clId="{09DE1239-541D-4ED2-A976-E0181688493A}" dt="2026-06-25T10:38:39.392" v="119" actId="22"/>
          <ac:picMkLst>
            <pc:docMk/>
            <pc:sldMk cId="0" sldId="261"/>
            <ac:picMk id="11" creationId="{BC5E1761-48D2-BCBB-E388-D1D836227E37}"/>
          </ac:picMkLst>
        </pc:picChg>
      </pc:sldChg>
      <pc:sldChg chg="addSp modSp mod setBg">
        <pc:chgData name="paco humbert" userId="a6eb4eecb000ffd6" providerId="LiveId" clId="{09DE1239-541D-4ED2-A976-E0181688493A}" dt="2026-06-25T10:44:36.486" v="183" actId="1076"/>
        <pc:sldMkLst>
          <pc:docMk/>
          <pc:sldMk cId="0" sldId="262"/>
        </pc:sldMkLst>
        <pc:spChg chg="mod">
          <ac:chgData name="paco humbert" userId="a6eb4eecb000ffd6" providerId="LiveId" clId="{09DE1239-541D-4ED2-A976-E0181688493A}" dt="2026-06-25T10:44:36.486" v="183" actId="1076"/>
          <ac:spMkLst>
            <pc:docMk/>
            <pc:sldMk cId="0" sldId="262"/>
            <ac:spMk id="25" creationId="{00000000-0000-0000-0000-000000000000}"/>
          </ac:spMkLst>
        </pc:spChg>
        <pc:picChg chg="add">
          <ac:chgData name="paco humbert" userId="a6eb4eecb000ffd6" providerId="LiveId" clId="{09DE1239-541D-4ED2-A976-E0181688493A}" dt="2026-06-25T10:38:40.655" v="120" actId="22"/>
          <ac:picMkLst>
            <pc:docMk/>
            <pc:sldMk cId="0" sldId="262"/>
            <ac:picMk id="28" creationId="{C88F2704-D223-AA4A-2478-083A81E2EE12}"/>
          </ac:picMkLst>
        </pc:picChg>
      </pc:sldChg>
      <pc:sldChg chg="addSp modSp mod setBg">
        <pc:chgData name="paco humbert" userId="a6eb4eecb000ffd6" providerId="LiveId" clId="{09DE1239-541D-4ED2-A976-E0181688493A}" dt="2026-06-25T10:44:45.832" v="184" actId="1076"/>
        <pc:sldMkLst>
          <pc:docMk/>
          <pc:sldMk cId="0" sldId="263"/>
        </pc:sldMkLst>
        <pc:spChg chg="mod">
          <ac:chgData name="paco humbert" userId="a6eb4eecb000ffd6" providerId="LiveId" clId="{09DE1239-541D-4ED2-A976-E0181688493A}" dt="2026-06-25T10:44:45.832" v="184" actId="1076"/>
          <ac:spMkLst>
            <pc:docMk/>
            <pc:sldMk cId="0" sldId="263"/>
            <ac:spMk id="12" creationId="{00000000-0000-0000-0000-000000000000}"/>
          </ac:spMkLst>
        </pc:spChg>
        <pc:picChg chg="add">
          <ac:chgData name="paco humbert" userId="a6eb4eecb000ffd6" providerId="LiveId" clId="{09DE1239-541D-4ED2-A976-E0181688493A}" dt="2026-06-25T10:38:41.790" v="121" actId="22"/>
          <ac:picMkLst>
            <pc:docMk/>
            <pc:sldMk cId="0" sldId="263"/>
            <ac:picMk id="14" creationId="{7289FDB9-F35C-986D-AC62-C27F09967E1D}"/>
          </ac:picMkLst>
        </pc:picChg>
      </pc:sldChg>
      <pc:sldChg chg="addSp modSp mod setBg">
        <pc:chgData name="paco humbert" userId="a6eb4eecb000ffd6" providerId="LiveId" clId="{09DE1239-541D-4ED2-A976-E0181688493A}" dt="2026-06-25T10:49:50.994" v="246" actId="20577"/>
        <pc:sldMkLst>
          <pc:docMk/>
          <pc:sldMk cId="0" sldId="264"/>
        </pc:sldMkLst>
        <pc:spChg chg="mod">
          <ac:chgData name="paco humbert" userId="a6eb4eecb000ffd6" providerId="LiveId" clId="{09DE1239-541D-4ED2-A976-E0181688493A}" dt="2026-06-25T10:45:47.003" v="197" actId="1076"/>
          <ac:spMkLst>
            <pc:docMk/>
            <pc:sldMk cId="0" sldId="264"/>
            <ac:spMk id="5" creationId="{00000000-0000-0000-0000-000000000000}"/>
          </ac:spMkLst>
        </pc:spChg>
        <pc:spChg chg="mod">
          <ac:chgData name="paco humbert" userId="a6eb4eecb000ffd6" providerId="LiveId" clId="{09DE1239-541D-4ED2-A976-E0181688493A}" dt="2026-06-25T10:45:47.003" v="197" actId="1076"/>
          <ac:spMkLst>
            <pc:docMk/>
            <pc:sldMk cId="0" sldId="264"/>
            <ac:spMk id="6" creationId="{00000000-0000-0000-0000-000000000000}"/>
          </ac:spMkLst>
        </pc:spChg>
        <pc:spChg chg="mod">
          <ac:chgData name="paco humbert" userId="a6eb4eecb000ffd6" providerId="LiveId" clId="{09DE1239-541D-4ED2-A976-E0181688493A}" dt="2026-06-25T10:45:47.003" v="197" actId="1076"/>
          <ac:spMkLst>
            <pc:docMk/>
            <pc:sldMk cId="0" sldId="264"/>
            <ac:spMk id="7" creationId="{00000000-0000-0000-0000-000000000000}"/>
          </ac:spMkLst>
        </pc:spChg>
        <pc:spChg chg="mod">
          <ac:chgData name="paco humbert" userId="a6eb4eecb000ffd6" providerId="LiveId" clId="{09DE1239-541D-4ED2-A976-E0181688493A}" dt="2026-06-25T10:45:47.003" v="197" actId="1076"/>
          <ac:spMkLst>
            <pc:docMk/>
            <pc:sldMk cId="0" sldId="264"/>
            <ac:spMk id="8" creationId="{00000000-0000-0000-0000-000000000000}"/>
          </ac:spMkLst>
        </pc:spChg>
        <pc:spChg chg="mod">
          <ac:chgData name="paco humbert" userId="a6eb4eecb000ffd6" providerId="LiveId" clId="{09DE1239-541D-4ED2-A976-E0181688493A}" dt="2026-06-25T10:45:47.003" v="197" actId="1076"/>
          <ac:spMkLst>
            <pc:docMk/>
            <pc:sldMk cId="0" sldId="264"/>
            <ac:spMk id="9" creationId="{00000000-0000-0000-0000-000000000000}"/>
          </ac:spMkLst>
        </pc:spChg>
        <pc:spChg chg="mod">
          <ac:chgData name="paco humbert" userId="a6eb4eecb000ffd6" providerId="LiveId" clId="{09DE1239-541D-4ED2-A976-E0181688493A}" dt="2026-06-25T10:45:47.003" v="197" actId="1076"/>
          <ac:spMkLst>
            <pc:docMk/>
            <pc:sldMk cId="0" sldId="264"/>
            <ac:spMk id="10" creationId="{00000000-0000-0000-0000-000000000000}"/>
          </ac:spMkLst>
        </pc:spChg>
        <pc:spChg chg="mod">
          <ac:chgData name="paco humbert" userId="a6eb4eecb000ffd6" providerId="LiveId" clId="{09DE1239-541D-4ED2-A976-E0181688493A}" dt="2026-06-25T10:45:47.003" v="197" actId="1076"/>
          <ac:spMkLst>
            <pc:docMk/>
            <pc:sldMk cId="0" sldId="264"/>
            <ac:spMk id="11" creationId="{00000000-0000-0000-0000-000000000000}"/>
          </ac:spMkLst>
        </pc:spChg>
        <pc:spChg chg="mod">
          <ac:chgData name="paco humbert" userId="a6eb4eecb000ffd6" providerId="LiveId" clId="{09DE1239-541D-4ED2-A976-E0181688493A}" dt="2026-06-25T10:45:47.003" v="197" actId="1076"/>
          <ac:spMkLst>
            <pc:docMk/>
            <pc:sldMk cId="0" sldId="264"/>
            <ac:spMk id="12" creationId="{00000000-0000-0000-0000-000000000000}"/>
          </ac:spMkLst>
        </pc:spChg>
        <pc:spChg chg="mod">
          <ac:chgData name="paco humbert" userId="a6eb4eecb000ffd6" providerId="LiveId" clId="{09DE1239-541D-4ED2-A976-E0181688493A}" dt="2026-06-25T10:45:39.009" v="196" actId="1076"/>
          <ac:spMkLst>
            <pc:docMk/>
            <pc:sldMk cId="0" sldId="264"/>
            <ac:spMk id="13" creationId="{00000000-0000-0000-0000-000000000000}"/>
          </ac:spMkLst>
        </pc:spChg>
        <pc:spChg chg="mod">
          <ac:chgData name="paco humbert" userId="a6eb4eecb000ffd6" providerId="LiveId" clId="{09DE1239-541D-4ED2-A976-E0181688493A}" dt="2026-06-25T10:45:35.936" v="195" actId="1076"/>
          <ac:spMkLst>
            <pc:docMk/>
            <pc:sldMk cId="0" sldId="264"/>
            <ac:spMk id="14" creationId="{00000000-0000-0000-0000-000000000000}"/>
          </ac:spMkLst>
        </pc:spChg>
        <pc:spChg chg="mod">
          <ac:chgData name="paco humbert" userId="a6eb4eecb000ffd6" providerId="LiveId" clId="{09DE1239-541D-4ED2-A976-E0181688493A}" dt="2026-06-25T10:49:50.994" v="246" actId="20577"/>
          <ac:spMkLst>
            <pc:docMk/>
            <pc:sldMk cId="0" sldId="264"/>
            <ac:spMk id="15" creationId="{00000000-0000-0000-0000-000000000000}"/>
          </ac:spMkLst>
        </pc:spChg>
        <pc:picChg chg="add">
          <ac:chgData name="paco humbert" userId="a6eb4eecb000ffd6" providerId="LiveId" clId="{09DE1239-541D-4ED2-A976-E0181688493A}" dt="2026-06-25T10:38:43.014" v="122" actId="22"/>
          <ac:picMkLst>
            <pc:docMk/>
            <pc:sldMk cId="0" sldId="264"/>
            <ac:picMk id="17" creationId="{4E7EEEF8-64E5-EA8E-D6B7-F84E140093EF}"/>
          </ac:picMkLst>
        </pc:picChg>
      </pc:sldChg>
      <pc:sldChg chg="addSp modSp mod setBg">
        <pc:chgData name="paco humbert" userId="a6eb4eecb000ffd6" providerId="LiveId" clId="{09DE1239-541D-4ED2-A976-E0181688493A}" dt="2026-06-25T10:49:44.360" v="244" actId="1076"/>
        <pc:sldMkLst>
          <pc:docMk/>
          <pc:sldMk cId="0" sldId="265"/>
        </pc:sldMkLst>
        <pc:spChg chg="mod">
          <ac:chgData name="paco humbert" userId="a6eb4eecb000ffd6" providerId="LiveId" clId="{09DE1239-541D-4ED2-A976-E0181688493A}" dt="2026-06-25T10:46:03.778" v="204" actId="1076"/>
          <ac:spMkLst>
            <pc:docMk/>
            <pc:sldMk cId="0" sldId="265"/>
            <ac:spMk id="6" creationId="{00000000-0000-0000-0000-000000000000}"/>
          </ac:spMkLst>
        </pc:spChg>
        <pc:spChg chg="mod">
          <ac:chgData name="paco humbert" userId="a6eb4eecb000ffd6" providerId="LiveId" clId="{09DE1239-541D-4ED2-A976-E0181688493A}" dt="2026-06-25T10:46:08.998" v="205" actId="1076"/>
          <ac:spMkLst>
            <pc:docMk/>
            <pc:sldMk cId="0" sldId="265"/>
            <ac:spMk id="7" creationId="{00000000-0000-0000-0000-000000000000}"/>
          </ac:spMkLst>
        </pc:spChg>
        <pc:spChg chg="mod">
          <ac:chgData name="paco humbert" userId="a6eb4eecb000ffd6" providerId="LiveId" clId="{09DE1239-541D-4ED2-A976-E0181688493A}" dt="2026-06-25T10:49:44.360" v="244" actId="1076"/>
          <ac:spMkLst>
            <pc:docMk/>
            <pc:sldMk cId="0" sldId="265"/>
            <ac:spMk id="9" creationId="{00000000-0000-0000-0000-000000000000}"/>
          </ac:spMkLst>
        </pc:spChg>
        <pc:picChg chg="add">
          <ac:chgData name="paco humbert" userId="a6eb4eecb000ffd6" providerId="LiveId" clId="{09DE1239-541D-4ED2-A976-E0181688493A}" dt="2026-06-25T10:38:44.319" v="123" actId="22"/>
          <ac:picMkLst>
            <pc:docMk/>
            <pc:sldMk cId="0" sldId="265"/>
            <ac:picMk id="11" creationId="{837E9BB9-30D6-C03C-8BD6-264CBD4764EA}"/>
          </ac:picMkLst>
        </pc:picChg>
      </pc:sldChg>
      <pc:sldChg chg="addSp modSp mod setBg">
        <pc:chgData name="paco humbert" userId="a6eb4eecb000ffd6" providerId="LiveId" clId="{09DE1239-541D-4ED2-A976-E0181688493A}" dt="2026-06-25T10:49:23.595" v="243" actId="20577"/>
        <pc:sldMkLst>
          <pc:docMk/>
          <pc:sldMk cId="0" sldId="266"/>
        </pc:sldMkLst>
        <pc:spChg chg="mod">
          <ac:chgData name="paco humbert" userId="a6eb4eecb000ffd6" providerId="LiveId" clId="{09DE1239-541D-4ED2-A976-E0181688493A}" dt="2026-06-25T10:46:30.633" v="207" actId="1076"/>
          <ac:spMkLst>
            <pc:docMk/>
            <pc:sldMk cId="0" sldId="266"/>
            <ac:spMk id="5" creationId="{00000000-0000-0000-0000-000000000000}"/>
          </ac:spMkLst>
        </pc:spChg>
        <pc:spChg chg="mod">
          <ac:chgData name="paco humbert" userId="a6eb4eecb000ffd6" providerId="LiveId" clId="{09DE1239-541D-4ED2-A976-E0181688493A}" dt="2026-06-25T10:46:30.633" v="207" actId="1076"/>
          <ac:spMkLst>
            <pc:docMk/>
            <pc:sldMk cId="0" sldId="266"/>
            <ac:spMk id="6" creationId="{00000000-0000-0000-0000-000000000000}"/>
          </ac:spMkLst>
        </pc:spChg>
        <pc:spChg chg="mod">
          <ac:chgData name="paco humbert" userId="a6eb4eecb000ffd6" providerId="LiveId" clId="{09DE1239-541D-4ED2-A976-E0181688493A}" dt="2026-06-25T10:46:30.633" v="207" actId="1076"/>
          <ac:spMkLst>
            <pc:docMk/>
            <pc:sldMk cId="0" sldId="266"/>
            <ac:spMk id="7" creationId="{00000000-0000-0000-0000-000000000000}"/>
          </ac:spMkLst>
        </pc:spChg>
        <pc:spChg chg="mod">
          <ac:chgData name="paco humbert" userId="a6eb4eecb000ffd6" providerId="LiveId" clId="{09DE1239-541D-4ED2-A976-E0181688493A}" dt="2026-06-25T10:46:30.633" v="207" actId="1076"/>
          <ac:spMkLst>
            <pc:docMk/>
            <pc:sldMk cId="0" sldId="266"/>
            <ac:spMk id="8" creationId="{00000000-0000-0000-0000-000000000000}"/>
          </ac:spMkLst>
        </pc:spChg>
        <pc:spChg chg="mod">
          <ac:chgData name="paco humbert" userId="a6eb4eecb000ffd6" providerId="LiveId" clId="{09DE1239-541D-4ED2-A976-E0181688493A}" dt="2026-06-25T10:46:15.995" v="206" actId="1076"/>
          <ac:spMkLst>
            <pc:docMk/>
            <pc:sldMk cId="0" sldId="266"/>
            <ac:spMk id="9" creationId="{00000000-0000-0000-0000-000000000000}"/>
          </ac:spMkLst>
        </pc:spChg>
        <pc:spChg chg="mod">
          <ac:chgData name="paco humbert" userId="a6eb4eecb000ffd6" providerId="LiveId" clId="{09DE1239-541D-4ED2-A976-E0181688493A}" dt="2026-06-25T10:49:23.595" v="243" actId="20577"/>
          <ac:spMkLst>
            <pc:docMk/>
            <pc:sldMk cId="0" sldId="266"/>
            <ac:spMk id="10" creationId="{00000000-0000-0000-0000-000000000000}"/>
          </ac:spMkLst>
        </pc:spChg>
        <pc:picChg chg="add">
          <ac:chgData name="paco humbert" userId="a6eb4eecb000ffd6" providerId="LiveId" clId="{09DE1239-541D-4ED2-A976-E0181688493A}" dt="2026-06-25T10:38:45.333" v="124" actId="22"/>
          <ac:picMkLst>
            <pc:docMk/>
            <pc:sldMk cId="0" sldId="266"/>
            <ac:picMk id="12" creationId="{FB5C0E6C-B359-F517-60C4-4D9A30EFC0D2}"/>
          </ac:picMkLst>
        </pc:picChg>
      </pc:sldChg>
      <pc:sldChg chg="addSp modSp mod setBg">
        <pc:chgData name="paco humbert" userId="a6eb4eecb000ffd6" providerId="LiveId" clId="{09DE1239-541D-4ED2-A976-E0181688493A}" dt="2026-06-25T10:41:20.683" v="139"/>
        <pc:sldMkLst>
          <pc:docMk/>
          <pc:sldMk cId="0" sldId="267"/>
        </pc:sldMkLst>
        <pc:picChg chg="add mod">
          <ac:chgData name="paco humbert" userId="a6eb4eecb000ffd6" providerId="LiveId" clId="{09DE1239-541D-4ED2-A976-E0181688493A}" dt="2026-06-25T10:38:20.605" v="113" actId="14100"/>
          <ac:picMkLst>
            <pc:docMk/>
            <pc:sldMk cId="0" sldId="267"/>
            <ac:picMk id="33" creationId="{06CF28D2-814D-B41E-6494-C2298DAF6A90}"/>
          </ac:picMkLst>
        </pc:picChg>
      </pc:sldChg>
      <pc:sldChg chg="addSp modSp mod setBg">
        <pc:chgData name="paco humbert" userId="a6eb4eecb000ffd6" providerId="LiveId" clId="{09DE1239-541D-4ED2-A976-E0181688493A}" dt="2026-06-25T10:49:16.804" v="241" actId="20577"/>
        <pc:sldMkLst>
          <pc:docMk/>
          <pc:sldMk cId="0" sldId="268"/>
        </pc:sldMkLst>
        <pc:spChg chg="mod">
          <ac:chgData name="paco humbert" userId="a6eb4eecb000ffd6" providerId="LiveId" clId="{09DE1239-541D-4ED2-A976-E0181688493A}" dt="2026-06-25T10:46:50.635" v="209" actId="1076"/>
          <ac:spMkLst>
            <pc:docMk/>
            <pc:sldMk cId="0" sldId="268"/>
            <ac:spMk id="5" creationId="{00000000-0000-0000-0000-000000000000}"/>
          </ac:spMkLst>
        </pc:spChg>
        <pc:spChg chg="mod">
          <ac:chgData name="paco humbert" userId="a6eb4eecb000ffd6" providerId="LiveId" clId="{09DE1239-541D-4ED2-A976-E0181688493A}" dt="2026-06-25T10:46:50.635" v="209" actId="1076"/>
          <ac:spMkLst>
            <pc:docMk/>
            <pc:sldMk cId="0" sldId="268"/>
            <ac:spMk id="6" creationId="{00000000-0000-0000-0000-000000000000}"/>
          </ac:spMkLst>
        </pc:spChg>
        <pc:spChg chg="mod">
          <ac:chgData name="paco humbert" userId="a6eb4eecb000ffd6" providerId="LiveId" clId="{09DE1239-541D-4ED2-A976-E0181688493A}" dt="2026-06-25T10:46:54.745" v="212" actId="20577"/>
          <ac:spMkLst>
            <pc:docMk/>
            <pc:sldMk cId="0" sldId="268"/>
            <ac:spMk id="7" creationId="{00000000-0000-0000-0000-000000000000}"/>
          </ac:spMkLst>
        </pc:spChg>
        <pc:spChg chg="mod">
          <ac:chgData name="paco humbert" userId="a6eb4eecb000ffd6" providerId="LiveId" clId="{09DE1239-541D-4ED2-A976-E0181688493A}" dt="2026-06-25T10:46:50.635" v="209" actId="1076"/>
          <ac:spMkLst>
            <pc:docMk/>
            <pc:sldMk cId="0" sldId="268"/>
            <ac:spMk id="8" creationId="{00000000-0000-0000-0000-000000000000}"/>
          </ac:spMkLst>
        </pc:spChg>
        <pc:spChg chg="mod">
          <ac:chgData name="paco humbert" userId="a6eb4eecb000ffd6" providerId="LiveId" clId="{09DE1239-541D-4ED2-A976-E0181688493A}" dt="2026-06-25T10:46:50.635" v="209" actId="1076"/>
          <ac:spMkLst>
            <pc:docMk/>
            <pc:sldMk cId="0" sldId="268"/>
            <ac:spMk id="9" creationId="{00000000-0000-0000-0000-000000000000}"/>
          </ac:spMkLst>
        </pc:spChg>
        <pc:spChg chg="mod">
          <ac:chgData name="paco humbert" userId="a6eb4eecb000ffd6" providerId="LiveId" clId="{09DE1239-541D-4ED2-A976-E0181688493A}" dt="2026-06-25T10:46:50.635" v="209" actId="1076"/>
          <ac:spMkLst>
            <pc:docMk/>
            <pc:sldMk cId="0" sldId="268"/>
            <ac:spMk id="10" creationId="{00000000-0000-0000-0000-000000000000}"/>
          </ac:spMkLst>
        </pc:spChg>
        <pc:spChg chg="mod">
          <ac:chgData name="paco humbert" userId="a6eb4eecb000ffd6" providerId="LiveId" clId="{09DE1239-541D-4ED2-A976-E0181688493A}" dt="2026-06-25T10:46:45.823" v="208" actId="1076"/>
          <ac:spMkLst>
            <pc:docMk/>
            <pc:sldMk cId="0" sldId="268"/>
            <ac:spMk id="11" creationId="{00000000-0000-0000-0000-000000000000}"/>
          </ac:spMkLst>
        </pc:spChg>
        <pc:spChg chg="mod">
          <ac:chgData name="paco humbert" userId="a6eb4eecb000ffd6" providerId="LiveId" clId="{09DE1239-541D-4ED2-A976-E0181688493A}" dt="2026-06-25T10:46:45.823" v="208" actId="1076"/>
          <ac:spMkLst>
            <pc:docMk/>
            <pc:sldMk cId="0" sldId="268"/>
            <ac:spMk id="12" creationId="{00000000-0000-0000-0000-000000000000}"/>
          </ac:spMkLst>
        </pc:spChg>
        <pc:spChg chg="mod">
          <ac:chgData name="paco humbert" userId="a6eb4eecb000ffd6" providerId="LiveId" clId="{09DE1239-541D-4ED2-A976-E0181688493A}" dt="2026-06-25T10:49:16.804" v="241" actId="20577"/>
          <ac:spMkLst>
            <pc:docMk/>
            <pc:sldMk cId="0" sldId="268"/>
            <ac:spMk id="13" creationId="{00000000-0000-0000-0000-000000000000}"/>
          </ac:spMkLst>
        </pc:spChg>
        <pc:picChg chg="add">
          <ac:chgData name="paco humbert" userId="a6eb4eecb000ffd6" providerId="LiveId" clId="{09DE1239-541D-4ED2-A976-E0181688493A}" dt="2026-06-25T10:38:46.789" v="125" actId="22"/>
          <ac:picMkLst>
            <pc:docMk/>
            <pc:sldMk cId="0" sldId="268"/>
            <ac:picMk id="15" creationId="{B73CDEFD-03E6-0613-F9E7-370329755994}"/>
          </ac:picMkLst>
        </pc:picChg>
      </pc:sldChg>
      <pc:sldChg chg="addSp modSp mod setBg">
        <pc:chgData name="paco humbert" userId="a6eb4eecb000ffd6" providerId="LiveId" clId="{09DE1239-541D-4ED2-A976-E0181688493A}" dt="2026-06-25T10:49:05.889" v="239" actId="20577"/>
        <pc:sldMkLst>
          <pc:docMk/>
          <pc:sldMk cId="0" sldId="269"/>
        </pc:sldMkLst>
        <pc:spChg chg="mod">
          <ac:chgData name="paco humbert" userId="a6eb4eecb000ffd6" providerId="LiveId" clId="{09DE1239-541D-4ED2-A976-E0181688493A}" dt="2026-06-25T10:49:03.409" v="237" actId="1076"/>
          <ac:spMkLst>
            <pc:docMk/>
            <pc:sldMk cId="0" sldId="269"/>
            <ac:spMk id="6" creationId="{00000000-0000-0000-0000-000000000000}"/>
          </ac:spMkLst>
        </pc:spChg>
        <pc:spChg chg="mod">
          <ac:chgData name="paco humbert" userId="a6eb4eecb000ffd6" providerId="LiveId" clId="{09DE1239-541D-4ED2-A976-E0181688493A}" dt="2026-06-25T10:49:03.409" v="237" actId="1076"/>
          <ac:spMkLst>
            <pc:docMk/>
            <pc:sldMk cId="0" sldId="269"/>
            <ac:spMk id="7" creationId="{00000000-0000-0000-0000-000000000000}"/>
          </ac:spMkLst>
        </pc:spChg>
        <pc:spChg chg="mod">
          <ac:chgData name="paco humbert" userId="a6eb4eecb000ffd6" providerId="LiveId" clId="{09DE1239-541D-4ED2-A976-E0181688493A}" dt="2026-06-25T10:49:05.889" v="239" actId="20577"/>
          <ac:spMkLst>
            <pc:docMk/>
            <pc:sldMk cId="0" sldId="269"/>
            <ac:spMk id="8" creationId="{00000000-0000-0000-0000-000000000000}"/>
          </ac:spMkLst>
        </pc:spChg>
        <pc:spChg chg="mod">
          <ac:chgData name="paco humbert" userId="a6eb4eecb000ffd6" providerId="LiveId" clId="{09DE1239-541D-4ED2-A976-E0181688493A}" dt="2026-06-25T10:47:07.161" v="213" actId="1076"/>
          <ac:spMkLst>
            <pc:docMk/>
            <pc:sldMk cId="0" sldId="269"/>
            <ac:spMk id="9" creationId="{00000000-0000-0000-0000-000000000000}"/>
          </ac:spMkLst>
        </pc:spChg>
        <pc:picChg chg="add">
          <ac:chgData name="paco humbert" userId="a6eb4eecb000ffd6" providerId="LiveId" clId="{09DE1239-541D-4ED2-A976-E0181688493A}" dt="2026-06-25T10:38:48.006" v="126" actId="22"/>
          <ac:picMkLst>
            <pc:docMk/>
            <pc:sldMk cId="0" sldId="269"/>
            <ac:picMk id="11" creationId="{095D5594-A713-4D4F-249D-304A4953377B}"/>
          </ac:picMkLst>
        </pc:picChg>
      </pc:sldChg>
      <pc:sldChg chg="addSp modSp mod setBg">
        <pc:chgData name="paco humbert" userId="a6eb4eecb000ffd6" providerId="LiveId" clId="{09DE1239-541D-4ED2-A976-E0181688493A}" dt="2026-06-25T10:47:36.364" v="217" actId="1076"/>
        <pc:sldMkLst>
          <pc:docMk/>
          <pc:sldMk cId="0" sldId="270"/>
        </pc:sldMkLst>
        <pc:spChg chg="mod">
          <ac:chgData name="paco humbert" userId="a6eb4eecb000ffd6" providerId="LiveId" clId="{09DE1239-541D-4ED2-A976-E0181688493A}" dt="2026-06-25T10:47:36.364" v="217" actId="1076"/>
          <ac:spMkLst>
            <pc:docMk/>
            <pc:sldMk cId="0" sldId="270"/>
            <ac:spMk id="8" creationId="{00000000-0000-0000-0000-000000000000}"/>
          </ac:spMkLst>
        </pc:spChg>
        <pc:spChg chg="mod">
          <ac:chgData name="paco humbert" userId="a6eb4eecb000ffd6" providerId="LiveId" clId="{09DE1239-541D-4ED2-A976-E0181688493A}" dt="2026-06-25T10:47:36.364" v="217" actId="1076"/>
          <ac:spMkLst>
            <pc:docMk/>
            <pc:sldMk cId="0" sldId="270"/>
            <ac:spMk id="9" creationId="{00000000-0000-0000-0000-000000000000}"/>
          </ac:spMkLst>
        </pc:spChg>
        <pc:spChg chg="mod">
          <ac:chgData name="paco humbert" userId="a6eb4eecb000ffd6" providerId="LiveId" clId="{09DE1239-541D-4ED2-A976-E0181688493A}" dt="2026-06-25T10:47:36.364" v="217" actId="1076"/>
          <ac:spMkLst>
            <pc:docMk/>
            <pc:sldMk cId="0" sldId="270"/>
            <ac:spMk id="10" creationId="{00000000-0000-0000-0000-000000000000}"/>
          </ac:spMkLst>
        </pc:spChg>
        <pc:spChg chg="mod">
          <ac:chgData name="paco humbert" userId="a6eb4eecb000ffd6" providerId="LiveId" clId="{09DE1239-541D-4ED2-A976-E0181688493A}" dt="2026-06-25T10:47:36.364" v="217" actId="1076"/>
          <ac:spMkLst>
            <pc:docMk/>
            <pc:sldMk cId="0" sldId="270"/>
            <ac:spMk id="13" creationId="{00000000-0000-0000-0000-000000000000}"/>
          </ac:spMkLst>
        </pc:spChg>
        <pc:spChg chg="mod">
          <ac:chgData name="paco humbert" userId="a6eb4eecb000ffd6" providerId="LiveId" clId="{09DE1239-541D-4ED2-A976-E0181688493A}" dt="2026-06-25T10:47:36.364" v="217" actId="1076"/>
          <ac:spMkLst>
            <pc:docMk/>
            <pc:sldMk cId="0" sldId="270"/>
            <ac:spMk id="17" creationId="{00000000-0000-0000-0000-000000000000}"/>
          </ac:spMkLst>
        </pc:spChg>
        <pc:spChg chg="mod">
          <ac:chgData name="paco humbert" userId="a6eb4eecb000ffd6" providerId="LiveId" clId="{09DE1239-541D-4ED2-A976-E0181688493A}" dt="2026-06-25T10:47:36.364" v="217" actId="1076"/>
          <ac:spMkLst>
            <pc:docMk/>
            <pc:sldMk cId="0" sldId="270"/>
            <ac:spMk id="21" creationId="{00000000-0000-0000-0000-000000000000}"/>
          </ac:spMkLst>
        </pc:spChg>
        <pc:spChg chg="mod">
          <ac:chgData name="paco humbert" userId="a6eb4eecb000ffd6" providerId="LiveId" clId="{09DE1239-541D-4ED2-A976-E0181688493A}" dt="2026-06-25T10:47:36.364" v="217" actId="1076"/>
          <ac:spMkLst>
            <pc:docMk/>
            <pc:sldMk cId="0" sldId="270"/>
            <ac:spMk id="22" creationId="{00000000-0000-0000-0000-000000000000}"/>
          </ac:spMkLst>
        </pc:spChg>
        <pc:spChg chg="mod">
          <ac:chgData name="paco humbert" userId="a6eb4eecb000ffd6" providerId="LiveId" clId="{09DE1239-541D-4ED2-A976-E0181688493A}" dt="2026-06-25T10:47:36.364" v="217" actId="1076"/>
          <ac:spMkLst>
            <pc:docMk/>
            <pc:sldMk cId="0" sldId="270"/>
            <ac:spMk id="23" creationId="{00000000-0000-0000-0000-000000000000}"/>
          </ac:spMkLst>
        </pc:spChg>
        <pc:spChg chg="mod">
          <ac:chgData name="paco humbert" userId="a6eb4eecb000ffd6" providerId="LiveId" clId="{09DE1239-541D-4ED2-A976-E0181688493A}" dt="2026-06-25T10:47:36.364" v="217" actId="1076"/>
          <ac:spMkLst>
            <pc:docMk/>
            <pc:sldMk cId="0" sldId="270"/>
            <ac:spMk id="25" creationId="{00000000-0000-0000-0000-000000000000}"/>
          </ac:spMkLst>
        </pc:spChg>
        <pc:spChg chg="mod">
          <ac:chgData name="paco humbert" userId="a6eb4eecb000ffd6" providerId="LiveId" clId="{09DE1239-541D-4ED2-A976-E0181688493A}" dt="2026-06-25T10:47:36.364" v="217" actId="1076"/>
          <ac:spMkLst>
            <pc:docMk/>
            <pc:sldMk cId="0" sldId="270"/>
            <ac:spMk id="33" creationId="{00000000-0000-0000-0000-000000000000}"/>
          </ac:spMkLst>
        </pc:spChg>
        <pc:spChg chg="mod">
          <ac:chgData name="paco humbert" userId="a6eb4eecb000ffd6" providerId="LiveId" clId="{09DE1239-541D-4ED2-A976-E0181688493A}" dt="2026-06-25T10:47:29.727" v="216" actId="1076"/>
          <ac:spMkLst>
            <pc:docMk/>
            <pc:sldMk cId="0" sldId="270"/>
            <ac:spMk id="35" creationId="{00000000-0000-0000-0000-000000000000}"/>
          </ac:spMkLst>
        </pc:spChg>
        <pc:picChg chg="add">
          <ac:chgData name="paco humbert" userId="a6eb4eecb000ffd6" providerId="LiveId" clId="{09DE1239-541D-4ED2-A976-E0181688493A}" dt="2026-06-25T10:38:49.288" v="127" actId="22"/>
          <ac:picMkLst>
            <pc:docMk/>
            <pc:sldMk cId="0" sldId="270"/>
            <ac:picMk id="38" creationId="{671A760D-3667-7263-CE1C-F2AF0ABE52CB}"/>
          </ac:picMkLst>
        </pc:picChg>
      </pc:sldChg>
      <pc:sldChg chg="addSp modSp mod setBg">
        <pc:chgData name="paco humbert" userId="a6eb4eecb000ffd6" providerId="LiveId" clId="{09DE1239-541D-4ED2-A976-E0181688493A}" dt="2026-06-25T10:47:52.178" v="221" actId="20577"/>
        <pc:sldMkLst>
          <pc:docMk/>
          <pc:sldMk cId="0" sldId="271"/>
        </pc:sldMkLst>
        <pc:spChg chg="mod">
          <ac:chgData name="paco humbert" userId="a6eb4eecb000ffd6" providerId="LiveId" clId="{09DE1239-541D-4ED2-A976-E0181688493A}" dt="2026-06-25T10:47:46.273" v="219" actId="1076"/>
          <ac:spMkLst>
            <pc:docMk/>
            <pc:sldMk cId="0" sldId="271"/>
            <ac:spMk id="5" creationId="{00000000-0000-0000-0000-000000000000}"/>
          </ac:spMkLst>
        </pc:spChg>
        <pc:spChg chg="mod">
          <ac:chgData name="paco humbert" userId="a6eb4eecb000ffd6" providerId="LiveId" clId="{09DE1239-541D-4ED2-A976-E0181688493A}" dt="2026-06-25T10:47:46.273" v="219" actId="1076"/>
          <ac:spMkLst>
            <pc:docMk/>
            <pc:sldMk cId="0" sldId="271"/>
            <ac:spMk id="6" creationId="{00000000-0000-0000-0000-000000000000}"/>
          </ac:spMkLst>
        </pc:spChg>
        <pc:spChg chg="mod">
          <ac:chgData name="paco humbert" userId="a6eb4eecb000ffd6" providerId="LiveId" clId="{09DE1239-541D-4ED2-A976-E0181688493A}" dt="2026-06-25T10:47:46.273" v="219" actId="1076"/>
          <ac:spMkLst>
            <pc:docMk/>
            <pc:sldMk cId="0" sldId="271"/>
            <ac:spMk id="10" creationId="{00000000-0000-0000-0000-000000000000}"/>
          </ac:spMkLst>
        </pc:spChg>
        <pc:spChg chg="mod">
          <ac:chgData name="paco humbert" userId="a6eb4eecb000ffd6" providerId="LiveId" clId="{09DE1239-541D-4ED2-A976-E0181688493A}" dt="2026-06-25T10:47:46.273" v="219" actId="1076"/>
          <ac:spMkLst>
            <pc:docMk/>
            <pc:sldMk cId="0" sldId="271"/>
            <ac:spMk id="11" creationId="{00000000-0000-0000-0000-000000000000}"/>
          </ac:spMkLst>
        </pc:spChg>
        <pc:spChg chg="mod">
          <ac:chgData name="paco humbert" userId="a6eb4eecb000ffd6" providerId="LiveId" clId="{09DE1239-541D-4ED2-A976-E0181688493A}" dt="2026-06-25T10:47:46.273" v="219" actId="1076"/>
          <ac:spMkLst>
            <pc:docMk/>
            <pc:sldMk cId="0" sldId="271"/>
            <ac:spMk id="13" creationId="{00000000-0000-0000-0000-000000000000}"/>
          </ac:spMkLst>
        </pc:spChg>
        <pc:spChg chg="mod">
          <ac:chgData name="paco humbert" userId="a6eb4eecb000ffd6" providerId="LiveId" clId="{09DE1239-541D-4ED2-A976-E0181688493A}" dt="2026-06-25T10:47:46.273" v="219" actId="1076"/>
          <ac:spMkLst>
            <pc:docMk/>
            <pc:sldMk cId="0" sldId="271"/>
            <ac:spMk id="14" creationId="{00000000-0000-0000-0000-000000000000}"/>
          </ac:spMkLst>
        </pc:spChg>
        <pc:spChg chg="mod">
          <ac:chgData name="paco humbert" userId="a6eb4eecb000ffd6" providerId="LiveId" clId="{09DE1239-541D-4ED2-A976-E0181688493A}" dt="2026-06-25T10:47:46.273" v="219" actId="1076"/>
          <ac:spMkLst>
            <pc:docMk/>
            <pc:sldMk cId="0" sldId="271"/>
            <ac:spMk id="15" creationId="{00000000-0000-0000-0000-000000000000}"/>
          </ac:spMkLst>
        </pc:spChg>
        <pc:spChg chg="mod">
          <ac:chgData name="paco humbert" userId="a6eb4eecb000ffd6" providerId="LiveId" clId="{09DE1239-541D-4ED2-A976-E0181688493A}" dt="2026-06-25T10:47:46.273" v="219" actId="1076"/>
          <ac:spMkLst>
            <pc:docMk/>
            <pc:sldMk cId="0" sldId="271"/>
            <ac:spMk id="18" creationId="{00000000-0000-0000-0000-000000000000}"/>
          </ac:spMkLst>
        </pc:spChg>
        <pc:spChg chg="mod">
          <ac:chgData name="paco humbert" userId="a6eb4eecb000ffd6" providerId="LiveId" clId="{09DE1239-541D-4ED2-A976-E0181688493A}" dt="2026-06-25T10:47:46.273" v="219" actId="1076"/>
          <ac:spMkLst>
            <pc:docMk/>
            <pc:sldMk cId="0" sldId="271"/>
            <ac:spMk id="19" creationId="{00000000-0000-0000-0000-000000000000}"/>
          </ac:spMkLst>
        </pc:spChg>
        <pc:spChg chg="mod">
          <ac:chgData name="paco humbert" userId="a6eb4eecb000ffd6" providerId="LiveId" clId="{09DE1239-541D-4ED2-A976-E0181688493A}" dt="2026-06-25T10:47:46.273" v="219" actId="1076"/>
          <ac:spMkLst>
            <pc:docMk/>
            <pc:sldMk cId="0" sldId="271"/>
            <ac:spMk id="20" creationId="{00000000-0000-0000-0000-000000000000}"/>
          </ac:spMkLst>
        </pc:spChg>
        <pc:spChg chg="mod">
          <ac:chgData name="paco humbert" userId="a6eb4eecb000ffd6" providerId="LiveId" clId="{09DE1239-541D-4ED2-A976-E0181688493A}" dt="2026-06-25T10:47:52.178" v="221" actId="20577"/>
          <ac:spMkLst>
            <pc:docMk/>
            <pc:sldMk cId="0" sldId="271"/>
            <ac:spMk id="21" creationId="{00000000-0000-0000-0000-000000000000}"/>
          </ac:spMkLst>
        </pc:spChg>
        <pc:picChg chg="add">
          <ac:chgData name="paco humbert" userId="a6eb4eecb000ffd6" providerId="LiveId" clId="{09DE1239-541D-4ED2-A976-E0181688493A}" dt="2026-06-25T10:38:50.654" v="128" actId="22"/>
          <ac:picMkLst>
            <pc:docMk/>
            <pc:sldMk cId="0" sldId="271"/>
            <ac:picMk id="23" creationId="{8D4A12FF-4953-5454-6B63-DE91599F301E}"/>
          </ac:picMkLst>
        </pc:picChg>
      </pc:sldChg>
      <pc:sldChg chg="addSp modSp mod setBg">
        <pc:chgData name="paco humbert" userId="a6eb4eecb000ffd6" providerId="LiveId" clId="{09DE1239-541D-4ED2-A976-E0181688493A}" dt="2026-06-25T10:48:33.836" v="232" actId="20577"/>
        <pc:sldMkLst>
          <pc:docMk/>
          <pc:sldMk cId="0" sldId="272"/>
        </pc:sldMkLst>
        <pc:spChg chg="mod">
          <ac:chgData name="paco humbert" userId="a6eb4eecb000ffd6" providerId="LiveId" clId="{09DE1239-541D-4ED2-A976-E0181688493A}" dt="2026-06-25T10:48:05.222" v="225" actId="1076"/>
          <ac:spMkLst>
            <pc:docMk/>
            <pc:sldMk cId="0" sldId="272"/>
            <ac:spMk id="4" creationId="{00000000-0000-0000-0000-000000000000}"/>
          </ac:spMkLst>
        </pc:spChg>
        <pc:spChg chg="mod">
          <ac:chgData name="paco humbert" userId="a6eb4eecb000ffd6" providerId="LiveId" clId="{09DE1239-541D-4ED2-A976-E0181688493A}" dt="2026-06-25T10:48:14.818" v="226" actId="1076"/>
          <ac:spMkLst>
            <pc:docMk/>
            <pc:sldMk cId="0" sldId="272"/>
            <ac:spMk id="5" creationId="{00000000-0000-0000-0000-000000000000}"/>
          </ac:spMkLst>
        </pc:spChg>
        <pc:spChg chg="mod">
          <ac:chgData name="paco humbert" userId="a6eb4eecb000ffd6" providerId="LiveId" clId="{09DE1239-541D-4ED2-A976-E0181688493A}" dt="2026-06-25T10:48:14.818" v="226" actId="1076"/>
          <ac:spMkLst>
            <pc:docMk/>
            <pc:sldMk cId="0" sldId="272"/>
            <ac:spMk id="6" creationId="{00000000-0000-0000-0000-000000000000}"/>
          </ac:spMkLst>
        </pc:spChg>
        <pc:spChg chg="mod">
          <ac:chgData name="paco humbert" userId="a6eb4eecb000ffd6" providerId="LiveId" clId="{09DE1239-541D-4ED2-A976-E0181688493A}" dt="2026-06-25T10:48:33.836" v="232" actId="20577"/>
          <ac:spMkLst>
            <pc:docMk/>
            <pc:sldMk cId="0" sldId="272"/>
            <ac:spMk id="7" creationId="{00000000-0000-0000-0000-000000000000}"/>
          </ac:spMkLst>
        </pc:spChg>
        <pc:spChg chg="mod">
          <ac:chgData name="paco humbert" userId="a6eb4eecb000ffd6" providerId="LiveId" clId="{09DE1239-541D-4ED2-A976-E0181688493A}" dt="2026-06-25T10:48:14.818" v="226" actId="1076"/>
          <ac:spMkLst>
            <pc:docMk/>
            <pc:sldMk cId="0" sldId="272"/>
            <ac:spMk id="8" creationId="{00000000-0000-0000-0000-000000000000}"/>
          </ac:spMkLst>
        </pc:spChg>
        <pc:spChg chg="mod">
          <ac:chgData name="paco humbert" userId="a6eb4eecb000ffd6" providerId="LiveId" clId="{09DE1239-541D-4ED2-A976-E0181688493A}" dt="2026-06-25T10:48:14.818" v="226" actId="1076"/>
          <ac:spMkLst>
            <pc:docMk/>
            <pc:sldMk cId="0" sldId="272"/>
            <ac:spMk id="9" creationId="{00000000-0000-0000-0000-000000000000}"/>
          </ac:spMkLst>
        </pc:spChg>
        <pc:spChg chg="mod">
          <ac:chgData name="paco humbert" userId="a6eb4eecb000ffd6" providerId="LiveId" clId="{09DE1239-541D-4ED2-A976-E0181688493A}" dt="2026-06-25T10:48:31.593" v="230" actId="20577"/>
          <ac:spMkLst>
            <pc:docMk/>
            <pc:sldMk cId="0" sldId="272"/>
            <ac:spMk id="10" creationId="{00000000-0000-0000-0000-000000000000}"/>
          </ac:spMkLst>
        </pc:spChg>
        <pc:spChg chg="mod">
          <ac:chgData name="paco humbert" userId="a6eb4eecb000ffd6" providerId="LiveId" clId="{09DE1239-541D-4ED2-A976-E0181688493A}" dt="2026-06-25T10:48:26.050" v="228" actId="27636"/>
          <ac:spMkLst>
            <pc:docMk/>
            <pc:sldMk cId="0" sldId="272"/>
            <ac:spMk id="11" creationId="{00000000-0000-0000-0000-000000000000}"/>
          </ac:spMkLst>
        </pc:spChg>
        <pc:spChg chg="mod">
          <ac:chgData name="paco humbert" userId="a6eb4eecb000ffd6" providerId="LiveId" clId="{09DE1239-541D-4ED2-A976-E0181688493A}" dt="2026-06-25T10:48:05.222" v="225" actId="1076"/>
          <ac:spMkLst>
            <pc:docMk/>
            <pc:sldMk cId="0" sldId="272"/>
            <ac:spMk id="25" creationId="{00000000-0000-0000-0000-000000000000}"/>
          </ac:spMkLst>
        </pc:spChg>
        <pc:picChg chg="add">
          <ac:chgData name="paco humbert" userId="a6eb4eecb000ffd6" providerId="LiveId" clId="{09DE1239-541D-4ED2-A976-E0181688493A}" dt="2026-06-25T10:38:52.056" v="129" actId="22"/>
          <ac:picMkLst>
            <pc:docMk/>
            <pc:sldMk cId="0" sldId="272"/>
            <ac:picMk id="13" creationId="{B4BE4E55-D340-D6CC-AFBC-02A07A0464FC}"/>
          </ac:picMkLst>
        </pc:picChg>
      </pc:sldChg>
      <pc:sldChg chg="addSp modSp mod setBg">
        <pc:chgData name="paco humbert" userId="a6eb4eecb000ffd6" providerId="LiveId" clId="{09DE1239-541D-4ED2-A976-E0181688493A}" dt="2026-06-25T10:48:46.987" v="234" actId="1076"/>
        <pc:sldMkLst>
          <pc:docMk/>
          <pc:sldMk cId="0" sldId="273"/>
        </pc:sldMkLst>
        <pc:spChg chg="mod">
          <ac:chgData name="paco humbert" userId="a6eb4eecb000ffd6" providerId="LiveId" clId="{09DE1239-541D-4ED2-A976-E0181688493A}" dt="2026-06-25T10:48:46.987" v="234" actId="1076"/>
          <ac:spMkLst>
            <pc:docMk/>
            <pc:sldMk cId="0" sldId="273"/>
            <ac:spMk id="5" creationId="{00000000-0000-0000-0000-000000000000}"/>
          </ac:spMkLst>
        </pc:spChg>
        <pc:spChg chg="mod">
          <ac:chgData name="paco humbert" userId="a6eb4eecb000ffd6" providerId="LiveId" clId="{09DE1239-541D-4ED2-A976-E0181688493A}" dt="2026-06-25T10:48:46.987" v="234" actId="1076"/>
          <ac:spMkLst>
            <pc:docMk/>
            <pc:sldMk cId="0" sldId="273"/>
            <ac:spMk id="6" creationId="{00000000-0000-0000-0000-000000000000}"/>
          </ac:spMkLst>
        </pc:spChg>
        <pc:spChg chg="mod">
          <ac:chgData name="paco humbert" userId="a6eb4eecb000ffd6" providerId="LiveId" clId="{09DE1239-541D-4ED2-A976-E0181688493A}" dt="2026-06-25T10:48:46.987" v="234" actId="1076"/>
          <ac:spMkLst>
            <pc:docMk/>
            <pc:sldMk cId="0" sldId="273"/>
            <ac:spMk id="7" creationId="{00000000-0000-0000-0000-000000000000}"/>
          </ac:spMkLst>
        </pc:spChg>
        <pc:spChg chg="mod">
          <ac:chgData name="paco humbert" userId="a6eb4eecb000ffd6" providerId="LiveId" clId="{09DE1239-541D-4ED2-A976-E0181688493A}" dt="2026-06-25T10:48:46.987" v="234" actId="1076"/>
          <ac:spMkLst>
            <pc:docMk/>
            <pc:sldMk cId="0" sldId="273"/>
            <ac:spMk id="10" creationId="{00000000-0000-0000-0000-000000000000}"/>
          </ac:spMkLst>
        </pc:spChg>
        <pc:spChg chg="mod">
          <ac:chgData name="paco humbert" userId="a6eb4eecb000ffd6" providerId="LiveId" clId="{09DE1239-541D-4ED2-A976-E0181688493A}" dt="2026-06-25T10:48:46.987" v="234" actId="1076"/>
          <ac:spMkLst>
            <pc:docMk/>
            <pc:sldMk cId="0" sldId="273"/>
            <ac:spMk id="11" creationId="{00000000-0000-0000-0000-000000000000}"/>
          </ac:spMkLst>
        </pc:spChg>
        <pc:spChg chg="mod">
          <ac:chgData name="paco humbert" userId="a6eb4eecb000ffd6" providerId="LiveId" clId="{09DE1239-541D-4ED2-A976-E0181688493A}" dt="2026-06-25T10:48:46.987" v="234" actId="1076"/>
          <ac:spMkLst>
            <pc:docMk/>
            <pc:sldMk cId="0" sldId="273"/>
            <ac:spMk id="12" creationId="{00000000-0000-0000-0000-000000000000}"/>
          </ac:spMkLst>
        </pc:spChg>
        <pc:spChg chg="mod">
          <ac:chgData name="paco humbert" userId="a6eb4eecb000ffd6" providerId="LiveId" clId="{09DE1239-541D-4ED2-A976-E0181688493A}" dt="2026-06-25T10:48:46.987" v="234" actId="1076"/>
          <ac:spMkLst>
            <pc:docMk/>
            <pc:sldMk cId="0" sldId="273"/>
            <ac:spMk id="15" creationId="{00000000-0000-0000-0000-000000000000}"/>
          </ac:spMkLst>
        </pc:spChg>
        <pc:spChg chg="mod">
          <ac:chgData name="paco humbert" userId="a6eb4eecb000ffd6" providerId="LiveId" clId="{09DE1239-541D-4ED2-A976-E0181688493A}" dt="2026-06-25T10:48:46.987" v="234" actId="1076"/>
          <ac:spMkLst>
            <pc:docMk/>
            <pc:sldMk cId="0" sldId="273"/>
            <ac:spMk id="16" creationId="{00000000-0000-0000-0000-000000000000}"/>
          </ac:spMkLst>
        </pc:spChg>
        <pc:spChg chg="mod">
          <ac:chgData name="paco humbert" userId="a6eb4eecb000ffd6" providerId="LiveId" clId="{09DE1239-541D-4ED2-A976-E0181688493A}" dt="2026-06-25T10:48:46.987" v="234" actId="1076"/>
          <ac:spMkLst>
            <pc:docMk/>
            <pc:sldMk cId="0" sldId="273"/>
            <ac:spMk id="17" creationId="{00000000-0000-0000-0000-000000000000}"/>
          </ac:spMkLst>
        </pc:spChg>
        <pc:spChg chg="mod">
          <ac:chgData name="paco humbert" userId="a6eb4eecb000ffd6" providerId="LiveId" clId="{09DE1239-541D-4ED2-A976-E0181688493A}" dt="2026-06-25T10:48:46.987" v="234" actId="1076"/>
          <ac:spMkLst>
            <pc:docMk/>
            <pc:sldMk cId="0" sldId="273"/>
            <ac:spMk id="19" creationId="{00000000-0000-0000-0000-000000000000}"/>
          </ac:spMkLst>
        </pc:spChg>
        <pc:spChg chg="mod">
          <ac:chgData name="paco humbert" userId="a6eb4eecb000ffd6" providerId="LiveId" clId="{09DE1239-541D-4ED2-A976-E0181688493A}" dt="2026-06-25T10:48:41.427" v="233" actId="1076"/>
          <ac:spMkLst>
            <pc:docMk/>
            <pc:sldMk cId="0" sldId="273"/>
            <ac:spMk id="21" creationId="{00000000-0000-0000-0000-000000000000}"/>
          </ac:spMkLst>
        </pc:spChg>
        <pc:picChg chg="add">
          <ac:chgData name="paco humbert" userId="a6eb4eecb000ffd6" providerId="LiveId" clId="{09DE1239-541D-4ED2-A976-E0181688493A}" dt="2026-06-25T10:38:53.683" v="130" actId="22"/>
          <ac:picMkLst>
            <pc:docMk/>
            <pc:sldMk cId="0" sldId="273"/>
            <ac:picMk id="23" creationId="{65F84196-3C2D-CF0B-A744-9935C7521630}"/>
          </ac:picMkLst>
        </pc:picChg>
      </pc:sldChg>
      <pc:sldMasterChg chg="modSldLayout">
        <pc:chgData name="paco humbert" userId="a6eb4eecb000ffd6" providerId="LiveId" clId="{09DE1239-541D-4ED2-A976-E0181688493A}" dt="2026-06-25T10:39:48.318" v="131"/>
        <pc:sldMasterMkLst>
          <pc:docMk/>
          <pc:sldMasterMk cId="3174358893" sldId="2147483651"/>
        </pc:sldMasterMkLst>
        <pc:sldLayoutChg chg="delSp">
          <pc:chgData name="paco humbert" userId="a6eb4eecb000ffd6" providerId="LiveId" clId="{09DE1239-541D-4ED2-A976-E0181688493A}" dt="2026-06-25T10:39:48.318" v="131"/>
          <pc:sldLayoutMkLst>
            <pc:docMk/>
            <pc:sldMasterMk cId="3174358893" sldId="2147483651"/>
            <pc:sldLayoutMk cId="2725232908" sldId="2147483664"/>
          </pc:sldLayoutMkLst>
          <pc:spChg chg="del">
            <ac:chgData name="paco humbert" userId="a6eb4eecb000ffd6" providerId="LiveId" clId="{09DE1239-541D-4ED2-A976-E0181688493A}" dt="2026-06-25T10:39:48.318" v="131"/>
            <ac:spMkLst>
              <pc:docMk/>
              <pc:sldMasterMk cId="3174358893" sldId="2147483651"/>
              <pc:sldLayoutMk cId="2725232908" sldId="2147483664"/>
              <ac:spMk id="2" creationId="{00000000-0000-0000-0000-000000000000}"/>
            </ac:spMkLst>
          </pc:spChg>
          <pc:spChg chg="del">
            <ac:chgData name="paco humbert" userId="a6eb4eecb000ffd6" providerId="LiveId" clId="{09DE1239-541D-4ED2-A976-E0181688493A}" dt="2026-06-25T10:39:48.318" v="131"/>
            <ac:spMkLst>
              <pc:docMk/>
              <pc:sldMasterMk cId="3174358893" sldId="2147483651"/>
              <pc:sldLayoutMk cId="2725232908" sldId="2147483664"/>
              <ac:spMk id="3" creationId="{00000000-0000-0000-0000-000000000000}"/>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Anomalies ERP</c:v>
                </c:pt>
              </c:strCache>
            </c:strRef>
          </c:tx>
          <c:spPr>
            <a:solidFill>
              <a:srgbClr val="FF7200"/>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Statut stock incohérent</c:v>
                </c:pt>
                <c:pt idx="1">
                  <c:v>Prix de vente négatif</c:v>
                </c:pt>
                <c:pt idx="2">
                  <c:v>Stock négatif</c:v>
                </c:pt>
              </c:strCache>
            </c:strRef>
          </c:cat>
          <c:val>
            <c:numRef>
              <c:f>Sheet1!$B$2:$B$4</c:f>
              <c:numCache>
                <c:formatCode>General</c:formatCode>
                <c:ptCount val="3"/>
                <c:pt idx="0">
                  <c:v>2</c:v>
                </c:pt>
                <c:pt idx="1">
                  <c:v>3</c:v>
                </c:pt>
                <c:pt idx="2">
                  <c:v>2</c:v>
                </c:pt>
              </c:numCache>
            </c:numRef>
          </c:val>
          <c:extLst>
            <c:ext xmlns:c16="http://schemas.microsoft.com/office/drawing/2014/chart" uri="{C3380CC4-5D6E-409C-BE32-E72D297353CC}">
              <c16:uniqueId val="{00000000-58A0-4FA6-9C7E-C182042FB9D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5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Produits</c:v>
                </c:pt>
              </c:strCache>
            </c:strRef>
          </c:tx>
          <c:spPr>
            <a:solidFill>
              <a:srgbClr val="33A5B6"/>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ERP initial</c:v>
                </c:pt>
                <c:pt idx="1">
                  <c:v>Avec correspondance web</c:v>
                </c:pt>
                <c:pt idx="2">
                  <c:v>Sans correspondance web</c:v>
                </c:pt>
              </c:strCache>
            </c:strRef>
          </c:cat>
          <c:val>
            <c:numRef>
              <c:f>Sheet1!$B$2:$B$4</c:f>
              <c:numCache>
                <c:formatCode>General</c:formatCode>
                <c:ptCount val="3"/>
                <c:pt idx="0">
                  <c:v>825</c:v>
                </c:pt>
                <c:pt idx="1">
                  <c:v>714</c:v>
                </c:pt>
                <c:pt idx="2">
                  <c:v>111</c:v>
                </c:pt>
              </c:numCache>
            </c:numRef>
          </c:val>
          <c:extLst>
            <c:ext xmlns:c16="http://schemas.microsoft.com/office/drawing/2014/chart" uri="{C3380CC4-5D6E-409C-BE32-E72D297353CC}">
              <c16:uniqueId val="{00000000-6437-4150-BCA4-81049D912AC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5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Top CA</c:v>
                </c:pt>
              </c:strCache>
            </c:strRef>
          </c:tx>
          <c:spPr>
            <a:solidFill>
              <a:srgbClr val="FF7200"/>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Egly-Ouriet Millésimé</c:v>
                </c:pt>
                <c:pt idx="1">
                  <c:v>Ambonnay Rouge</c:v>
                </c:pt>
                <c:pt idx="2">
                  <c:v>Egly Brut Rosé</c:v>
                </c:pt>
                <c:pt idx="3">
                  <c:v>Côte Rôtie</c:v>
                </c:pt>
                <c:pt idx="4">
                  <c:v>Volnay 1er Cru</c:v>
                </c:pt>
              </c:strCache>
            </c:strRef>
          </c:cat>
          <c:val>
            <c:numRef>
              <c:f>Sheet1!$B$2:$B$6</c:f>
              <c:numCache>
                <c:formatCode>General</c:formatCode>
                <c:ptCount val="5"/>
                <c:pt idx="0">
                  <c:v>2475</c:v>
                </c:pt>
                <c:pt idx="1">
                  <c:v>1148</c:v>
                </c:pt>
                <c:pt idx="2">
                  <c:v>1113</c:v>
                </c:pt>
                <c:pt idx="3">
                  <c:v>824</c:v>
                </c:pt>
                <c:pt idx="4">
                  <c:v>805</c:v>
                </c:pt>
              </c:numCache>
            </c:numRef>
          </c:val>
          <c:extLst>
            <c:ext xmlns:c16="http://schemas.microsoft.com/office/drawing/2014/chart" uri="{C3380CC4-5D6E-409C-BE32-E72D297353CC}">
              <c16:uniqueId val="{00000000-377D-4972-BE15-42C6CF0DECA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5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Taux de marge moyen %</c:v>
                </c:pt>
              </c:strCache>
            </c:strRef>
          </c:tx>
          <c:spPr>
            <a:solidFill>
              <a:srgbClr val="33A5B6"/>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Cognac</c:v>
                </c:pt>
                <c:pt idx="1">
                  <c:v>Whisky</c:v>
                </c:pt>
                <c:pt idx="2">
                  <c:v>Gin</c:v>
                </c:pt>
                <c:pt idx="3">
                  <c:v>Vin</c:v>
                </c:pt>
                <c:pt idx="4">
                  <c:v>Champagne</c:v>
                </c:pt>
                <c:pt idx="5">
                  <c:v>Huile olive</c:v>
                </c:pt>
              </c:strCache>
            </c:strRef>
          </c:cat>
          <c:val>
            <c:numRef>
              <c:f>Sheet1!$B$2:$B$7</c:f>
              <c:numCache>
                <c:formatCode>General</c:formatCode>
                <c:ptCount val="6"/>
                <c:pt idx="0">
                  <c:v>82.3</c:v>
                </c:pt>
                <c:pt idx="1">
                  <c:v>81.7</c:v>
                </c:pt>
                <c:pt idx="2">
                  <c:v>74.8</c:v>
                </c:pt>
                <c:pt idx="3">
                  <c:v>61.5</c:v>
                </c:pt>
                <c:pt idx="4">
                  <c:v>40</c:v>
                </c:pt>
                <c:pt idx="5">
                  <c:v>33.4</c:v>
                </c:pt>
              </c:numCache>
            </c:numRef>
          </c:val>
          <c:extLst>
            <c:ext xmlns:c16="http://schemas.microsoft.com/office/drawing/2014/chart" uri="{C3380CC4-5D6E-409C-BE32-E72D297353CC}">
              <c16:uniqueId val="{00000000-E6A2-4B7C-B87A-12FB1C9C8D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5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844A27-F4EE-C6FD-F5D9-995BBADBF00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264624A-C778-5480-704F-6E7648616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7FBAE33-B850-DF75-EF8E-C21BC729E874}"/>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2807A942-104A-8CC3-4ADA-39C72135361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700BF7-2624-78B5-7B6F-0DBD69FA9E4D}"/>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25117158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AFE3EC-9592-0BDD-F120-CD0DCE9D7D8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B8217C-BBFD-7FD0-2710-5B6A8C6C06E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08CCC4D-6AD7-295A-4D78-97F714B5AD20}"/>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14DE01B9-47D9-6D70-1207-EE95118DA8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1EA5DB4-9EB9-FCA7-2868-30318172ABA4}"/>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17631019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A15C09-C38B-3E30-D5DF-113273AC4D0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6581EAE-A857-37D6-7D86-592AF4BB12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A3A2B77-E387-2742-D094-CE742AB3F3CE}"/>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FF2B7C0B-12A4-FCB0-CCE4-8C75B2CBE57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5872F8-D42F-AE46-7528-FCEC7E5CB45E}"/>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42555785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07B4B0-6AEC-CB5D-239A-EADFE43A05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6075DBF-9244-3F55-6836-37399276B34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AB40617-BB3A-4796-FA97-539A3508C39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306B359-F4F4-07E2-AD84-38ECE9761357}"/>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6" name="Espace réservé du pied de page 5">
            <a:extLst>
              <a:ext uri="{FF2B5EF4-FFF2-40B4-BE49-F238E27FC236}">
                <a16:creationId xmlns:a16="http://schemas.microsoft.com/office/drawing/2014/main" id="{1192C1B9-47D5-1FBE-93A8-3B24A7296C2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09983D7-59A0-31A9-691A-3E0526B962FD}"/>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32599767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6D0DB1-5892-482E-59A9-C7613266B47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9176EDD-A3F2-B04B-473F-537951F2A3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DE226F7-9BDD-52DE-F7ED-F624C8798BD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FE048F8-AABA-0171-DB0C-5F7D3D7CE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1433761-C2BF-E936-F18D-DB6018FAB6D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3A6486C-14A2-1E8F-BF0D-DC929489081E}"/>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8" name="Espace réservé du pied de page 7">
            <a:extLst>
              <a:ext uri="{FF2B5EF4-FFF2-40B4-BE49-F238E27FC236}">
                <a16:creationId xmlns:a16="http://schemas.microsoft.com/office/drawing/2014/main" id="{44112C48-0D5B-E32E-600E-8A807B02171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6F4CEAA-C585-CC70-07BF-C23E4EC7298F}"/>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5743568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38C20A-99DC-F68A-2F34-4CB064A78D3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2AABAF5-FA60-5F9B-BBCD-53CE65937FF5}"/>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4" name="Espace réservé du pied de page 3">
            <a:extLst>
              <a:ext uri="{FF2B5EF4-FFF2-40B4-BE49-F238E27FC236}">
                <a16:creationId xmlns:a16="http://schemas.microsoft.com/office/drawing/2014/main" id="{EAF0DC95-C14C-26E1-6EAB-5AF2B7CE915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F095E05-F7CB-A07C-2E89-1DF488112079}"/>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194263543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3A1DDE5-2C06-2D46-FFAB-5E1915B081F8}"/>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3" name="Espace réservé du pied de page 2">
            <a:extLst>
              <a:ext uri="{FF2B5EF4-FFF2-40B4-BE49-F238E27FC236}">
                <a16:creationId xmlns:a16="http://schemas.microsoft.com/office/drawing/2014/main" id="{1085B421-1C74-F363-B484-B4EDCC7996B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436E100-8244-8BD1-7544-460B2D29C95C}"/>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232006071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1DD2C7-F347-C049-8B69-334618D3F2F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3008413-8A96-8168-DD33-2DCC21253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F3CF283-9AD2-8D95-E571-E0FF2C2C4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AC8C49E-530B-0E61-4AA1-D0B6DED384F7}"/>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6" name="Espace réservé du pied de page 5">
            <a:extLst>
              <a:ext uri="{FF2B5EF4-FFF2-40B4-BE49-F238E27FC236}">
                <a16:creationId xmlns:a16="http://schemas.microsoft.com/office/drawing/2014/main" id="{F1306D7C-5ACB-1F3D-7DBC-542A2C727B1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020332F-C613-92A0-528A-0C3A3A977F20}"/>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3869411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805B16-CAA3-DD56-A4CB-513B2C09A17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72B1077-C04D-9980-5326-8A60CC1C7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590D618-C4B1-0261-8A8C-A291FBE982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77F974B-A9FE-86F2-3007-BEBF6076FF13}"/>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6" name="Espace réservé du pied de page 5">
            <a:extLst>
              <a:ext uri="{FF2B5EF4-FFF2-40B4-BE49-F238E27FC236}">
                <a16:creationId xmlns:a16="http://schemas.microsoft.com/office/drawing/2014/main" id="{C852ADB7-206A-BA7F-8781-6B88451E393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AEE0BA1-BBF1-7078-C1C3-1252773C0887}"/>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33696739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637FA8-0213-37FE-C51A-64AEDD71A00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0FF90CB-6B1B-D3A1-A2AC-07A57F06163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E192AE-E1C9-6C27-7C87-5E7E56724650}"/>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22A32545-A983-9379-3BD3-717F4A77AEE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9560D2-9EBC-2DC7-AE52-FF70D70BBBD2}"/>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4908337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B429B81-17E8-E3E8-FC40-44FFF75BC84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49FA3C4-0126-60D2-A6B7-62B4FBEF09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98781F-389A-782B-5C51-EE316F00B1AD}"/>
              </a:ext>
            </a:extLst>
          </p:cNvPr>
          <p:cNvSpPr>
            <a:spLocks noGrp="1"/>
          </p:cNvSpPr>
          <p:nvPr>
            <p:ph type="dt" sz="half" idx="10"/>
          </p:nvPr>
        </p:nvSpPr>
        <p:spPr/>
        <p:txBody>
          <a:body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F5497F39-40FE-9F68-D377-C4AEA9DECAE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25CF86C-B65C-5A10-0908-6F833E2F527F}"/>
              </a:ext>
            </a:extLst>
          </p:cNvPr>
          <p:cNvSpPr>
            <a:spLocks noGrp="1"/>
          </p:cNvSpPr>
          <p:nvPr>
            <p:ph type="sldNum" sz="quarter" idx="12"/>
          </p:nvPr>
        </p:nvSpPr>
        <p:spPr/>
        <p:txBody>
          <a:body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27560498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938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ASTER">
    <p:bg>
      <p:bgPr>
        <a:solidFill>
          <a:srgbClr val="FAFAF7"/>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‹N°›</a:t>
            </a:fld>
            <a:endParaRPr lang="en-US"/>
          </a:p>
        </p:txBody>
      </p:sp>
    </p:spTree>
    <p:extLst>
      <p:ext uri="{BB962C8B-B14F-4D97-AF65-F5344CB8AC3E}">
        <p14:creationId xmlns:p14="http://schemas.microsoft.com/office/powerpoint/2010/main" val="272523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851E98A-DB13-9FC6-2294-6039734CD3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C13C696-7A63-78E8-6B66-C024C7D29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44EDB41-48E8-FE97-2FFC-27C8B93D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4916A5-EB61-44A6-BEE3-540B0525987C}" type="datetimeFigureOut">
              <a:rPr lang="fr-FR" smtClean="0"/>
              <a:t>25/06/2026</a:t>
            </a:fld>
            <a:endParaRPr lang="fr-FR"/>
          </a:p>
        </p:txBody>
      </p:sp>
      <p:sp>
        <p:nvSpPr>
          <p:cNvPr id="5" name="Espace réservé du pied de page 4">
            <a:extLst>
              <a:ext uri="{FF2B5EF4-FFF2-40B4-BE49-F238E27FC236}">
                <a16:creationId xmlns:a16="http://schemas.microsoft.com/office/drawing/2014/main" id="{2EB7CAFA-A041-D1F0-1274-B2AD9157AB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A377CE2-C83E-1430-B690-9D3D83664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l"/>
            <a:fld id="{F7021451-1387-4CA6-816F-3879F97B5CBC}" type="slidenum">
              <a:rPr lang="en-US" b="0" smtClean="0"/>
              <a:t>‹N°›</a:t>
            </a:fld>
            <a:endParaRPr lang="en-US"/>
          </a:p>
        </p:txBody>
      </p:sp>
    </p:spTree>
    <p:extLst>
      <p:ext uri="{BB962C8B-B14F-4D97-AF65-F5344CB8AC3E}">
        <p14:creationId xmlns:p14="http://schemas.microsoft.com/office/powerpoint/2010/main" val="317435889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6"/>
        </a:solidFill>
        <a:effectLst/>
      </p:bgPr>
    </p:bg>
    <p:spTree>
      <p:nvGrpSpPr>
        <p:cNvPr id="1" name=""/>
        <p:cNvGrpSpPr/>
        <p:nvPr/>
      </p:nvGrpSpPr>
      <p:grpSpPr>
        <a:xfrm>
          <a:off x="0" y="0"/>
          <a:ext cx="0" cy="0"/>
          <a:chOff x="0" y="0"/>
          <a:chExt cx="0" cy="0"/>
        </a:xfrm>
      </p:grpSpPr>
      <p:sp>
        <p:nvSpPr>
          <p:cNvPr id="2" name="Text 0"/>
          <p:cNvSpPr/>
          <p:nvPr/>
        </p:nvSpPr>
        <p:spPr>
          <a:xfrm>
            <a:off x="658368" y="914400"/>
            <a:ext cx="8686800" cy="621792"/>
          </a:xfrm>
          <a:prstGeom prst="rect">
            <a:avLst/>
          </a:prstGeom>
          <a:noFill/>
          <a:ln/>
        </p:spPr>
        <p:txBody>
          <a:bodyPr wrap="square" lIns="0" tIns="0" rIns="0" bIns="0" rtlCol="0" anchor="ctr"/>
          <a:lstStyle/>
          <a:p>
            <a:pPr marL="0" indent="0">
              <a:buNone/>
            </a:pPr>
            <a:r>
              <a:rPr lang="en-US" sz="3400" b="1" dirty="0">
                <a:solidFill>
                  <a:srgbClr val="FFFFFF"/>
                </a:solidFill>
              </a:rPr>
              <a:t>Analyse du stock et des ventes</a:t>
            </a:r>
            <a:endParaRPr lang="en-US" sz="3400" dirty="0"/>
          </a:p>
        </p:txBody>
      </p:sp>
      <p:sp>
        <p:nvSpPr>
          <p:cNvPr id="3" name="Text 1"/>
          <p:cNvSpPr/>
          <p:nvPr/>
        </p:nvSpPr>
        <p:spPr>
          <a:xfrm>
            <a:off x="658368" y="1645920"/>
            <a:ext cx="7498080" cy="548640"/>
          </a:xfrm>
          <a:prstGeom prst="rect">
            <a:avLst/>
          </a:prstGeom>
          <a:noFill/>
          <a:ln/>
        </p:spPr>
        <p:txBody>
          <a:bodyPr wrap="square" lIns="0" tIns="0" rIns="0" bIns="0" rtlCol="0" anchor="ctr"/>
          <a:lstStyle/>
          <a:p>
            <a:pPr marL="0" indent="0">
              <a:buNone/>
            </a:pPr>
            <a:r>
              <a:rPr lang="en-US" sz="3000" b="1" dirty="0">
                <a:solidFill>
                  <a:srgbClr val="FF7200"/>
                </a:solidFill>
              </a:rPr>
              <a:t>Site Bottleneck</a:t>
            </a:r>
            <a:endParaRPr lang="en-US" sz="3000" dirty="0"/>
          </a:p>
        </p:txBody>
      </p:sp>
      <p:sp>
        <p:nvSpPr>
          <p:cNvPr id="4" name="Text 2"/>
          <p:cNvSpPr/>
          <p:nvPr/>
        </p:nvSpPr>
        <p:spPr>
          <a:xfrm>
            <a:off x="685800" y="2514600"/>
            <a:ext cx="7498080" cy="320040"/>
          </a:xfrm>
          <a:prstGeom prst="rect">
            <a:avLst/>
          </a:prstGeom>
          <a:noFill/>
          <a:ln/>
        </p:spPr>
        <p:txBody>
          <a:bodyPr wrap="square" lIns="0" tIns="0" rIns="0" bIns="0" rtlCol="0" anchor="ctr"/>
          <a:lstStyle/>
          <a:p>
            <a:pPr marL="0" indent="0">
              <a:buNone/>
            </a:pPr>
            <a:r>
              <a:rPr lang="en-US" sz="1500" dirty="0">
                <a:solidFill>
                  <a:srgbClr val="EDEAE2"/>
                </a:solidFill>
              </a:rPr>
              <a:t>Présentation CODIR — Projet 6 BI Analyst OpenClassrooms</a:t>
            </a:r>
            <a:endParaRPr lang="en-US" sz="1500" dirty="0"/>
          </a:p>
        </p:txBody>
      </p:sp>
      <p:sp>
        <p:nvSpPr>
          <p:cNvPr id="5" name="Text 3"/>
          <p:cNvSpPr/>
          <p:nvPr/>
        </p:nvSpPr>
        <p:spPr>
          <a:xfrm>
            <a:off x="685800" y="5303520"/>
            <a:ext cx="7498080" cy="256032"/>
          </a:xfrm>
          <a:prstGeom prst="rect">
            <a:avLst/>
          </a:prstGeom>
          <a:noFill/>
          <a:ln/>
        </p:spPr>
        <p:txBody>
          <a:bodyPr wrap="square" lIns="0" tIns="0" rIns="0" bIns="0" rtlCol="0" anchor="ctr"/>
          <a:lstStyle/>
          <a:p>
            <a:pPr marL="0" indent="0">
              <a:buNone/>
            </a:pPr>
            <a:r>
              <a:rPr lang="en-US" sz="1200" dirty="0">
                <a:solidFill>
                  <a:srgbClr val="D8D2C5"/>
                </a:solidFill>
              </a:rPr>
              <a:t>Version finale — présentation CODIR de 15 minutes</a:t>
            </a:r>
            <a:endParaRPr lang="en-US" sz="1200" dirty="0"/>
          </a:p>
        </p:txBody>
      </p:sp>
      <p:sp>
        <p:nvSpPr>
          <p:cNvPr id="6" name="Text 4"/>
          <p:cNvSpPr/>
          <p:nvPr/>
        </p:nvSpPr>
        <p:spPr>
          <a:xfrm>
            <a:off x="685800" y="5715000"/>
            <a:ext cx="3657600" cy="256032"/>
          </a:xfrm>
          <a:prstGeom prst="rect">
            <a:avLst/>
          </a:prstGeom>
          <a:noFill/>
          <a:ln/>
        </p:spPr>
        <p:txBody>
          <a:bodyPr wrap="square" lIns="0" tIns="0" rIns="0" bIns="0" rtlCol="0" anchor="ctr"/>
          <a:lstStyle/>
          <a:p>
            <a:pPr marL="0" indent="0">
              <a:buNone/>
            </a:pPr>
            <a:r>
              <a:rPr lang="en-US" sz="1200" dirty="0">
                <a:solidFill>
                  <a:srgbClr val="D8D2C5"/>
                </a:solidFill>
              </a:rPr>
              <a:t>Paco Humbert</a:t>
            </a:r>
            <a:endParaRPr lang="en-US" sz="1200" dirty="0"/>
          </a:p>
        </p:txBody>
      </p:sp>
      <p:sp>
        <p:nvSpPr>
          <p:cNvPr id="7" name="Text 5"/>
          <p:cNvSpPr/>
          <p:nvPr/>
        </p:nvSpPr>
        <p:spPr>
          <a:xfrm>
            <a:off x="8686800" y="5715000"/>
            <a:ext cx="2560320" cy="256032"/>
          </a:xfrm>
          <a:prstGeom prst="rect">
            <a:avLst/>
          </a:prstGeom>
          <a:noFill/>
          <a:ln/>
        </p:spPr>
        <p:txBody>
          <a:bodyPr wrap="square" lIns="0" tIns="0" rIns="0" bIns="0" rtlCol="0" anchor="ctr"/>
          <a:lstStyle/>
          <a:p>
            <a:pPr marL="0" indent="0" algn="r">
              <a:buNone/>
            </a:pPr>
            <a:r>
              <a:rPr lang="en-US" sz="1200" dirty="0">
                <a:solidFill>
                  <a:srgbClr val="D8D2C5"/>
                </a:solidFill>
              </a:rPr>
              <a:t>Notebook Python / Pandas</a:t>
            </a:r>
            <a:endParaRPr lang="en-US" sz="1200" dirty="0"/>
          </a:p>
        </p:txBody>
      </p:sp>
      <p:pic>
        <p:nvPicPr>
          <p:cNvPr id="9" name="Image 8">
            <a:extLst>
              <a:ext uri="{FF2B5EF4-FFF2-40B4-BE49-F238E27FC236}">
                <a16:creationId xmlns:a16="http://schemas.microsoft.com/office/drawing/2014/main" id="{CD471ABD-737C-2F49-4A89-33AC00DBA0CD}"/>
              </a:ext>
            </a:extLst>
          </p:cNvPr>
          <p:cNvPicPr>
            <a:picLocks noChangeAspect="1"/>
          </p:cNvPicPr>
          <p:nvPr/>
        </p:nvPicPr>
        <p:blipFill>
          <a:blip r:embed="rId2"/>
          <a:stretch>
            <a:fillRect/>
          </a:stretch>
        </p:blipFill>
        <p:spPr>
          <a:xfrm>
            <a:off x="10550106" y="0"/>
            <a:ext cx="1640152" cy="11934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CONTEXTE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Objectif de la mission</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731520" y="1837944"/>
            <a:ext cx="10424160" cy="502920"/>
          </a:xfrm>
          <a:prstGeom prst="rect">
            <a:avLst/>
          </a:prstGeom>
          <a:noFill/>
          <a:ln/>
        </p:spPr>
        <p:txBody>
          <a:bodyPr wrap="square" lIns="381" tIns="381" rIns="381" bIns="381" rtlCol="0" anchor="t">
            <a:normAutofit fontScale="85000" lnSpcReduction="20000"/>
          </a:bodyPr>
          <a:lstStyle/>
          <a:p>
            <a:pPr marL="0" indent="0">
              <a:buNone/>
            </a:pPr>
            <a:r>
              <a:rPr lang="en-US" sz="2300" b="1" dirty="0">
                <a:solidFill>
                  <a:srgbClr val="1E2A36"/>
                </a:solidFill>
              </a:rPr>
              <a:t>Transformer des fichiers dispersés en une base fiable pour piloter les ventes, le stock et la </a:t>
            </a:r>
            <a:r>
              <a:rPr lang="en-US" sz="2300" b="1" dirty="0" err="1">
                <a:solidFill>
                  <a:srgbClr val="1E2A36"/>
                </a:solidFill>
              </a:rPr>
              <a:t>rentabilité</a:t>
            </a:r>
            <a:r>
              <a:rPr lang="en-US" sz="2300" b="1" dirty="0">
                <a:solidFill>
                  <a:srgbClr val="1E2A36"/>
                </a:solidFill>
              </a:rPr>
              <a:t>.</a:t>
            </a:r>
          </a:p>
          <a:p>
            <a:pPr marL="0" indent="0">
              <a:buNone/>
            </a:pPr>
            <a:endParaRPr lang="en-US" sz="2300" b="1" dirty="0">
              <a:solidFill>
                <a:srgbClr val="1E2A36"/>
              </a:solidFill>
            </a:endParaRPr>
          </a:p>
          <a:p>
            <a:pPr marL="0" indent="0">
              <a:buNone/>
            </a:pPr>
            <a:endParaRPr lang="en-US" sz="2300" b="1" dirty="0">
              <a:solidFill>
                <a:srgbClr val="1E2A36"/>
              </a:solidFill>
            </a:endParaRPr>
          </a:p>
        </p:txBody>
      </p:sp>
      <p:sp>
        <p:nvSpPr>
          <p:cNvPr id="6" name="Text 4"/>
          <p:cNvSpPr/>
          <p:nvPr/>
        </p:nvSpPr>
        <p:spPr>
          <a:xfrm>
            <a:off x="803950" y="2995382"/>
            <a:ext cx="4297680" cy="228600"/>
          </a:xfrm>
          <a:prstGeom prst="rect">
            <a:avLst/>
          </a:prstGeom>
          <a:noFill/>
          <a:ln/>
        </p:spPr>
        <p:txBody>
          <a:bodyPr wrap="square" lIns="0" tIns="0" rIns="0" bIns="0" rtlCol="0" anchor="ctr"/>
          <a:lstStyle/>
          <a:p>
            <a:pPr marL="0" indent="0">
              <a:buNone/>
            </a:pPr>
            <a:r>
              <a:rPr lang="en-US" sz="1000" b="1" dirty="0">
                <a:solidFill>
                  <a:srgbClr val="33A5B6"/>
                </a:solidFill>
              </a:rPr>
              <a:t>ATTENDU DU PROJET</a:t>
            </a:r>
            <a:endParaRPr lang="en-US" sz="1000" dirty="0"/>
          </a:p>
        </p:txBody>
      </p:sp>
      <p:sp>
        <p:nvSpPr>
          <p:cNvPr id="7" name="Shape 5"/>
          <p:cNvSpPr/>
          <p:nvPr/>
        </p:nvSpPr>
        <p:spPr>
          <a:xfrm>
            <a:off x="822960" y="3288471"/>
            <a:ext cx="4297680" cy="0"/>
          </a:xfrm>
          <a:prstGeom prst="line">
            <a:avLst/>
          </a:prstGeom>
          <a:noFill/>
          <a:ln w="15240">
            <a:solidFill>
              <a:srgbClr val="33A5B6"/>
            </a:solidFill>
            <a:prstDash val="solid"/>
          </a:ln>
        </p:spPr>
        <p:txBody>
          <a:bodyPr/>
          <a:lstStyle/>
          <a:p>
            <a:endParaRPr lang="fr-FR"/>
          </a:p>
        </p:txBody>
      </p:sp>
      <p:sp>
        <p:nvSpPr>
          <p:cNvPr id="8" name="Text 6"/>
          <p:cNvSpPr/>
          <p:nvPr/>
        </p:nvSpPr>
        <p:spPr>
          <a:xfrm>
            <a:off x="822960" y="3633296"/>
            <a:ext cx="5120640" cy="2011680"/>
          </a:xfrm>
          <a:prstGeom prst="rect">
            <a:avLst/>
          </a:prstGeom>
          <a:noFill/>
          <a:ln/>
        </p:spPr>
        <p:txBody>
          <a:bodyPr wrap="square" lIns="635" tIns="635" rIns="635" bIns="635" rtlCol="0" anchor="t">
            <a:normAutofit/>
          </a:bodyPr>
          <a:lstStyle/>
          <a:p>
            <a:r>
              <a:rPr lang="en-US" sz="1600" dirty="0">
                <a:solidFill>
                  <a:srgbClr val="171A1F"/>
                </a:solidFill>
              </a:rPr>
              <a:t>Nettoyer et consolider les données ERP, web et liaison.</a:t>
            </a:r>
          </a:p>
          <a:p>
            <a:endParaRPr lang="en-US" sz="1600" dirty="0"/>
          </a:p>
          <a:p>
            <a:r>
              <a:rPr lang="en-US" sz="1600" dirty="0" err="1">
                <a:solidFill>
                  <a:srgbClr val="171A1F"/>
                </a:solidFill>
              </a:rPr>
              <a:t>Analyse</a:t>
            </a:r>
            <a:r>
              <a:rPr lang="en-US" sz="1600" dirty="0">
                <a:solidFill>
                  <a:srgbClr val="171A1F"/>
                </a:solidFill>
              </a:rPr>
              <a:t> chiffre d’affaires, ventes, stocks et </a:t>
            </a:r>
            <a:r>
              <a:rPr lang="en-US" sz="1600" dirty="0" err="1">
                <a:solidFill>
                  <a:srgbClr val="171A1F"/>
                </a:solidFill>
              </a:rPr>
              <a:t>marges</a:t>
            </a:r>
            <a:r>
              <a:rPr lang="en-US" sz="1600" dirty="0">
                <a:solidFill>
                  <a:srgbClr val="171A1F"/>
                </a:solidFill>
              </a:rPr>
              <a:t>.</a:t>
            </a:r>
          </a:p>
          <a:p>
            <a:endParaRPr lang="en-US" sz="1600" dirty="0"/>
          </a:p>
          <a:p>
            <a:r>
              <a:rPr lang="en-US" sz="1600" dirty="0">
                <a:solidFill>
                  <a:srgbClr val="171A1F"/>
                </a:solidFill>
              </a:rPr>
              <a:t>Identifier les limites de fiabilité et proposer des recommandations ERP.</a:t>
            </a:r>
            <a:endParaRPr lang="en-US" sz="1600" dirty="0"/>
          </a:p>
        </p:txBody>
      </p:sp>
      <p:sp>
        <p:nvSpPr>
          <p:cNvPr id="9" name="Text 7"/>
          <p:cNvSpPr/>
          <p:nvPr/>
        </p:nvSpPr>
        <p:spPr>
          <a:xfrm>
            <a:off x="6446520" y="2995382"/>
            <a:ext cx="4389120" cy="228600"/>
          </a:xfrm>
          <a:prstGeom prst="rect">
            <a:avLst/>
          </a:prstGeom>
          <a:noFill/>
          <a:ln/>
        </p:spPr>
        <p:txBody>
          <a:bodyPr wrap="square" lIns="0" tIns="0" rIns="0" bIns="0" rtlCol="0" anchor="ctr"/>
          <a:lstStyle/>
          <a:p>
            <a:pPr marL="0" indent="0">
              <a:buNone/>
            </a:pPr>
            <a:r>
              <a:rPr lang="en-US" sz="1000" b="1" dirty="0">
                <a:solidFill>
                  <a:srgbClr val="33A5B6"/>
                </a:solidFill>
              </a:rPr>
              <a:t>ANGLE CODIR</a:t>
            </a:r>
            <a:endParaRPr lang="en-US" sz="1000" dirty="0"/>
          </a:p>
        </p:txBody>
      </p:sp>
      <p:sp>
        <p:nvSpPr>
          <p:cNvPr id="10" name="Shape 8"/>
          <p:cNvSpPr/>
          <p:nvPr/>
        </p:nvSpPr>
        <p:spPr>
          <a:xfrm>
            <a:off x="6446520" y="3292321"/>
            <a:ext cx="4389120" cy="0"/>
          </a:xfrm>
          <a:prstGeom prst="line">
            <a:avLst/>
          </a:prstGeom>
          <a:noFill/>
          <a:ln w="15240">
            <a:solidFill>
              <a:srgbClr val="33A5B6"/>
            </a:solidFill>
            <a:prstDash val="solid"/>
          </a:ln>
        </p:spPr>
        <p:txBody>
          <a:bodyPr/>
          <a:lstStyle/>
          <a:p>
            <a:endParaRPr lang="fr-FR"/>
          </a:p>
        </p:txBody>
      </p:sp>
      <p:sp>
        <p:nvSpPr>
          <p:cNvPr id="11" name="Text 9"/>
          <p:cNvSpPr/>
          <p:nvPr/>
        </p:nvSpPr>
        <p:spPr>
          <a:xfrm>
            <a:off x="6446520" y="3639312"/>
            <a:ext cx="4754880" cy="2011680"/>
          </a:xfrm>
          <a:prstGeom prst="rect">
            <a:avLst/>
          </a:prstGeom>
          <a:noFill/>
          <a:ln/>
        </p:spPr>
        <p:txBody>
          <a:bodyPr wrap="square" lIns="635" tIns="635" rIns="635" bIns="635" rtlCol="0" anchor="t">
            <a:normAutofit/>
          </a:bodyPr>
          <a:lstStyle/>
          <a:p>
            <a:r>
              <a:rPr lang="en-US" sz="1600" dirty="0">
                <a:solidFill>
                  <a:srgbClr val="171A1F"/>
                </a:solidFill>
              </a:rPr>
              <a:t>Passer rapidement de la méthode aux </a:t>
            </a:r>
            <a:r>
              <a:rPr lang="en-US" sz="1600" dirty="0" err="1">
                <a:solidFill>
                  <a:srgbClr val="171A1F"/>
                </a:solidFill>
              </a:rPr>
              <a:t>résultats</a:t>
            </a:r>
            <a:r>
              <a:rPr lang="en-US" sz="1600" dirty="0">
                <a:solidFill>
                  <a:srgbClr val="171A1F"/>
                </a:solidFill>
              </a:rPr>
              <a:t>.</a:t>
            </a:r>
          </a:p>
          <a:p>
            <a:endParaRPr lang="en-US" sz="1600" dirty="0"/>
          </a:p>
          <a:p>
            <a:r>
              <a:rPr lang="en-US" sz="1600" dirty="0">
                <a:solidFill>
                  <a:srgbClr val="171A1F"/>
                </a:solidFill>
              </a:rPr>
              <a:t>Faire ressortir les anomalies métier </a:t>
            </a:r>
            <a:r>
              <a:rPr lang="en-US" sz="1600" dirty="0" err="1">
                <a:solidFill>
                  <a:srgbClr val="171A1F"/>
                </a:solidFill>
              </a:rPr>
              <a:t>prioritaires</a:t>
            </a:r>
            <a:r>
              <a:rPr lang="en-US" sz="1600" dirty="0">
                <a:solidFill>
                  <a:srgbClr val="171A1F"/>
                </a:solidFill>
              </a:rPr>
              <a:t>.</a:t>
            </a:r>
          </a:p>
          <a:p>
            <a:endParaRPr lang="en-US" sz="1600" dirty="0"/>
          </a:p>
          <a:p>
            <a:r>
              <a:rPr lang="en-US" sz="1600" dirty="0">
                <a:solidFill>
                  <a:srgbClr val="171A1F"/>
                </a:solidFill>
              </a:rPr>
              <a:t>Conclure par des actions concrètes et contrôlables.</a:t>
            </a:r>
            <a:endParaRPr lang="en-US" sz="16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2</a:t>
            </a:fld>
            <a:endParaRPr lang="en-US"/>
          </a:p>
        </p:txBody>
      </p:sp>
      <p:pic>
        <p:nvPicPr>
          <p:cNvPr id="13" name="Image 12">
            <a:extLst>
              <a:ext uri="{FF2B5EF4-FFF2-40B4-BE49-F238E27FC236}">
                <a16:creationId xmlns:a16="http://schemas.microsoft.com/office/drawing/2014/main" id="{0BA0FDD6-8160-F9BA-891E-F051DCB4F7AD}"/>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SYNTHÈSE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Message exécutif</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822960" y="1600200"/>
            <a:ext cx="2468880" cy="502920"/>
          </a:xfrm>
          <a:prstGeom prst="rect">
            <a:avLst/>
          </a:prstGeom>
          <a:noFill/>
          <a:ln/>
        </p:spPr>
        <p:txBody>
          <a:bodyPr wrap="square" lIns="0" tIns="0" rIns="0" bIns="0" rtlCol="0" anchor="ctr">
            <a:normAutofit/>
          </a:bodyPr>
          <a:lstStyle/>
          <a:p>
            <a:pPr marL="0" indent="0">
              <a:buNone/>
            </a:pPr>
            <a:r>
              <a:rPr lang="en-US" sz="2800" b="1" dirty="0">
                <a:solidFill>
                  <a:srgbClr val="FF7200"/>
                </a:solidFill>
              </a:rPr>
              <a:t>143 600 €</a:t>
            </a:r>
            <a:endParaRPr lang="en-US" sz="2800" dirty="0"/>
          </a:p>
        </p:txBody>
      </p:sp>
      <p:sp>
        <p:nvSpPr>
          <p:cNvPr id="6" name="Text 4"/>
          <p:cNvSpPr/>
          <p:nvPr/>
        </p:nvSpPr>
        <p:spPr>
          <a:xfrm>
            <a:off x="822960" y="2130552"/>
            <a:ext cx="246888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Chiffre d’affaires web calculé</a:t>
            </a:r>
            <a:endParaRPr lang="en-US" sz="1100" dirty="0"/>
          </a:p>
        </p:txBody>
      </p:sp>
      <p:sp>
        <p:nvSpPr>
          <p:cNvPr id="7" name="Text 5"/>
          <p:cNvSpPr/>
          <p:nvPr/>
        </p:nvSpPr>
        <p:spPr>
          <a:xfrm>
            <a:off x="3429000" y="1600200"/>
            <a:ext cx="2011680" cy="502920"/>
          </a:xfrm>
          <a:prstGeom prst="rect">
            <a:avLst/>
          </a:prstGeom>
          <a:noFill/>
          <a:ln/>
        </p:spPr>
        <p:txBody>
          <a:bodyPr wrap="square" lIns="0" tIns="0" rIns="0" bIns="0" rtlCol="0" anchor="ctr">
            <a:normAutofit/>
          </a:bodyPr>
          <a:lstStyle/>
          <a:p>
            <a:pPr marL="0" indent="0">
              <a:buNone/>
            </a:pPr>
            <a:r>
              <a:rPr lang="en-US" sz="2800" b="1" dirty="0">
                <a:solidFill>
                  <a:srgbClr val="33A5B6"/>
                </a:solidFill>
              </a:rPr>
              <a:t>714</a:t>
            </a:r>
            <a:endParaRPr lang="en-US" sz="2800" dirty="0"/>
          </a:p>
        </p:txBody>
      </p:sp>
      <p:sp>
        <p:nvSpPr>
          <p:cNvPr id="8" name="Text 6"/>
          <p:cNvSpPr/>
          <p:nvPr/>
        </p:nvSpPr>
        <p:spPr>
          <a:xfrm>
            <a:off x="3429000" y="2130552"/>
            <a:ext cx="201168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Produits exploités pour les ventes</a:t>
            </a:r>
            <a:endParaRPr lang="en-US" sz="1100" dirty="0"/>
          </a:p>
        </p:txBody>
      </p:sp>
      <p:sp>
        <p:nvSpPr>
          <p:cNvPr id="9" name="Text 7"/>
          <p:cNvSpPr/>
          <p:nvPr/>
        </p:nvSpPr>
        <p:spPr>
          <a:xfrm>
            <a:off x="5669280" y="1600200"/>
            <a:ext cx="2560320" cy="502920"/>
          </a:xfrm>
          <a:prstGeom prst="rect">
            <a:avLst/>
          </a:prstGeom>
          <a:noFill/>
          <a:ln/>
        </p:spPr>
        <p:txBody>
          <a:bodyPr wrap="square" lIns="0" tIns="0" rIns="0" bIns="0" rtlCol="0" anchor="ctr">
            <a:normAutofit/>
          </a:bodyPr>
          <a:lstStyle/>
          <a:p>
            <a:pPr marL="0" indent="0">
              <a:buNone/>
            </a:pPr>
            <a:r>
              <a:rPr lang="en-US" sz="2800" b="1" dirty="0">
                <a:solidFill>
                  <a:srgbClr val="B88735"/>
                </a:solidFill>
              </a:rPr>
              <a:t>298 600 €</a:t>
            </a:r>
            <a:endParaRPr lang="en-US" sz="2800" dirty="0"/>
          </a:p>
        </p:txBody>
      </p:sp>
      <p:sp>
        <p:nvSpPr>
          <p:cNvPr id="10" name="Text 8"/>
          <p:cNvSpPr/>
          <p:nvPr/>
        </p:nvSpPr>
        <p:spPr>
          <a:xfrm>
            <a:off x="5669280" y="2130552"/>
            <a:ext cx="256032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Stock valorisé au coût d’achat</a:t>
            </a:r>
            <a:endParaRPr lang="en-US" sz="1100" dirty="0"/>
          </a:p>
        </p:txBody>
      </p:sp>
      <p:sp>
        <p:nvSpPr>
          <p:cNvPr id="11" name="Text 9"/>
          <p:cNvSpPr/>
          <p:nvPr/>
        </p:nvSpPr>
        <p:spPr>
          <a:xfrm>
            <a:off x="8595360" y="1600200"/>
            <a:ext cx="2103120" cy="502920"/>
          </a:xfrm>
          <a:prstGeom prst="rect">
            <a:avLst/>
          </a:prstGeom>
          <a:noFill/>
          <a:ln/>
        </p:spPr>
        <p:txBody>
          <a:bodyPr wrap="square" lIns="0" tIns="0" rIns="0" bIns="0" rtlCol="0" anchor="ctr">
            <a:normAutofit/>
          </a:bodyPr>
          <a:lstStyle/>
          <a:p>
            <a:pPr marL="0" indent="0">
              <a:buNone/>
            </a:pPr>
            <a:r>
              <a:rPr lang="en-US" sz="2800" b="1" dirty="0">
                <a:solidFill>
                  <a:srgbClr val="3E8E5B"/>
                </a:solidFill>
              </a:rPr>
              <a:t>17 822</a:t>
            </a:r>
            <a:endParaRPr lang="en-US" sz="2800" dirty="0"/>
          </a:p>
        </p:txBody>
      </p:sp>
      <p:sp>
        <p:nvSpPr>
          <p:cNvPr id="12" name="Text 10"/>
          <p:cNvSpPr/>
          <p:nvPr/>
        </p:nvSpPr>
        <p:spPr>
          <a:xfrm>
            <a:off x="8595360" y="2130552"/>
            <a:ext cx="210312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Unités physiques en stock</a:t>
            </a:r>
            <a:endParaRPr lang="en-US" sz="1100" dirty="0"/>
          </a:p>
        </p:txBody>
      </p:sp>
      <p:sp>
        <p:nvSpPr>
          <p:cNvPr id="13" name="Text 11"/>
          <p:cNvSpPr/>
          <p:nvPr/>
        </p:nvSpPr>
        <p:spPr>
          <a:xfrm>
            <a:off x="868680" y="2880359"/>
            <a:ext cx="10424160" cy="3538727"/>
          </a:xfrm>
          <a:prstGeom prst="rect">
            <a:avLst/>
          </a:prstGeom>
          <a:noFill/>
          <a:ln/>
        </p:spPr>
        <p:txBody>
          <a:bodyPr wrap="square" lIns="635" tIns="635" rIns="635" bIns="635" rtlCol="0" anchor="t">
            <a:normAutofit/>
          </a:bodyPr>
          <a:lstStyle/>
          <a:p>
            <a:endParaRPr lang="en-US" sz="1600" dirty="0">
              <a:solidFill>
                <a:srgbClr val="171A1F"/>
              </a:solidFill>
            </a:endParaRPr>
          </a:p>
          <a:p>
            <a:r>
              <a:rPr lang="en-US" sz="1600" dirty="0">
                <a:solidFill>
                  <a:srgbClr val="171A1F"/>
                </a:solidFill>
              </a:rPr>
              <a:t>ERP </a:t>
            </a:r>
            <a:r>
              <a:rPr lang="en-US" sz="1600" dirty="0" err="1">
                <a:solidFill>
                  <a:srgbClr val="171A1F"/>
                </a:solidFill>
              </a:rPr>
              <a:t>globalement</a:t>
            </a:r>
            <a:r>
              <a:rPr lang="en-US" sz="1600" dirty="0">
                <a:solidFill>
                  <a:srgbClr val="171A1F"/>
                </a:solidFill>
              </a:rPr>
              <a:t> exploitable mais plusieurs anomalies métier </a:t>
            </a:r>
            <a:r>
              <a:rPr lang="en-US" sz="1600" dirty="0" err="1">
                <a:solidFill>
                  <a:srgbClr val="171A1F"/>
                </a:solidFill>
              </a:rPr>
              <a:t>corrigées</a:t>
            </a:r>
            <a:r>
              <a:rPr lang="en-US" sz="1600" dirty="0">
                <a:solidFill>
                  <a:srgbClr val="171A1F"/>
                </a:solidFill>
              </a:rPr>
              <a:t> : </a:t>
            </a:r>
          </a:p>
          <a:p>
            <a:endParaRPr lang="en-US" sz="1600" dirty="0">
              <a:solidFill>
                <a:srgbClr val="171A1F"/>
              </a:solidFill>
            </a:endParaRPr>
          </a:p>
          <a:p>
            <a:pPr marL="285750" indent="-285750">
              <a:buFontTx/>
              <a:buChar char="-"/>
            </a:pPr>
            <a:r>
              <a:rPr lang="en-US" sz="1600" dirty="0" err="1">
                <a:solidFill>
                  <a:srgbClr val="171A1F"/>
                </a:solidFill>
              </a:rPr>
              <a:t>statut</a:t>
            </a:r>
            <a:r>
              <a:rPr lang="en-US" sz="1600" dirty="0">
                <a:solidFill>
                  <a:srgbClr val="171A1F"/>
                </a:solidFill>
              </a:rPr>
              <a:t> stock, </a:t>
            </a:r>
          </a:p>
          <a:p>
            <a:pPr marL="285750" indent="-285750">
              <a:buFontTx/>
              <a:buChar char="-"/>
            </a:pPr>
            <a:r>
              <a:rPr lang="en-US" sz="1600" dirty="0">
                <a:solidFill>
                  <a:srgbClr val="171A1F"/>
                </a:solidFill>
              </a:rPr>
              <a:t>prix négatifs, </a:t>
            </a:r>
          </a:p>
          <a:p>
            <a:pPr marL="285750" indent="-285750">
              <a:buFontTx/>
              <a:buChar char="-"/>
            </a:pPr>
            <a:r>
              <a:rPr lang="en-US" sz="1600" dirty="0">
                <a:solidFill>
                  <a:srgbClr val="171A1F"/>
                </a:solidFill>
              </a:rPr>
              <a:t>stocks </a:t>
            </a:r>
            <a:r>
              <a:rPr lang="en-US" sz="1600" dirty="0" err="1">
                <a:solidFill>
                  <a:srgbClr val="171A1F"/>
                </a:solidFill>
              </a:rPr>
              <a:t>négatifs</a:t>
            </a:r>
            <a:r>
              <a:rPr lang="en-US" sz="1600" dirty="0">
                <a:solidFill>
                  <a:srgbClr val="171A1F"/>
                </a:solidFill>
              </a:rPr>
              <a:t>.</a:t>
            </a:r>
          </a:p>
          <a:p>
            <a:endParaRPr lang="en-US" sz="1600" dirty="0">
              <a:solidFill>
                <a:srgbClr val="171A1F"/>
              </a:solidFill>
            </a:endParaRPr>
          </a:p>
          <a:p>
            <a:endParaRPr lang="en-US" sz="1600" dirty="0"/>
          </a:p>
          <a:p>
            <a:r>
              <a:rPr lang="en-US" sz="1600" dirty="0">
                <a:solidFill>
                  <a:srgbClr val="171A1F"/>
                </a:solidFill>
              </a:rPr>
              <a:t>La donnée web nécessite un filtrage fort : seules les lignes de type produit et les SKU renseignés sont </a:t>
            </a:r>
            <a:r>
              <a:rPr lang="en-US" sz="1600" dirty="0" err="1">
                <a:solidFill>
                  <a:srgbClr val="171A1F"/>
                </a:solidFill>
              </a:rPr>
              <a:t>conservés</a:t>
            </a:r>
            <a:r>
              <a:rPr lang="en-US" sz="1600" dirty="0">
                <a:solidFill>
                  <a:srgbClr val="171A1F"/>
                </a:solidFill>
              </a:rPr>
              <a:t>.</a:t>
            </a:r>
          </a:p>
          <a:p>
            <a:endParaRPr lang="en-US" sz="1600" dirty="0"/>
          </a:p>
          <a:p>
            <a:r>
              <a:rPr lang="en-US" sz="1600" dirty="0">
                <a:solidFill>
                  <a:srgbClr val="171A1F"/>
                </a:solidFill>
              </a:rPr>
              <a:t>La marge révèle 4 produits vendus à perte à investiguer avant toute décision </a:t>
            </a:r>
            <a:r>
              <a:rPr lang="en-US" sz="1600" dirty="0" err="1">
                <a:solidFill>
                  <a:srgbClr val="171A1F"/>
                </a:solidFill>
              </a:rPr>
              <a:t>commerciale</a:t>
            </a:r>
            <a:r>
              <a:rPr lang="en-US" sz="1600" dirty="0">
                <a:solidFill>
                  <a:srgbClr val="171A1F"/>
                </a:solidFill>
              </a:rPr>
              <a:t>.</a:t>
            </a:r>
          </a:p>
          <a:p>
            <a:endParaRPr lang="en-US" sz="1600" dirty="0"/>
          </a:p>
          <a:p>
            <a:r>
              <a:rPr lang="en-US" sz="1600" dirty="0">
                <a:solidFill>
                  <a:srgbClr val="171A1F"/>
                </a:solidFill>
              </a:rPr>
              <a:t>Le futur ERP doit imposer des contrôles de saisie, des clés produits fiables et une synchronisation stock/statut.</a:t>
            </a:r>
            <a:endParaRPr lang="en-US" sz="16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3</a:t>
            </a:fld>
            <a:endParaRPr lang="en-US"/>
          </a:p>
        </p:txBody>
      </p:sp>
      <p:pic>
        <p:nvPicPr>
          <p:cNvPr id="15" name="Image 14">
            <a:extLst>
              <a:ext uri="{FF2B5EF4-FFF2-40B4-BE49-F238E27FC236}">
                <a16:creationId xmlns:a16="http://schemas.microsoft.com/office/drawing/2014/main" id="{0CE15D9F-EFE7-8DC4-1693-0F3AF19536C2}"/>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PÉRIMÈTRE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Données utilisées et rôle de chaque fichier</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813816" y="1645920"/>
            <a:ext cx="1755648" cy="441198"/>
          </a:xfrm>
          <a:prstGeom prst="rect">
            <a:avLst/>
          </a:prstGeom>
          <a:noFill/>
          <a:ln/>
        </p:spPr>
        <p:txBody>
          <a:bodyPr wrap="square" lIns="254" tIns="254" rIns="254" bIns="254" rtlCol="0" anchor="ctr">
            <a:normAutofit/>
          </a:bodyPr>
          <a:lstStyle/>
          <a:p>
            <a:pPr marL="0" indent="0">
              <a:buNone/>
            </a:pPr>
            <a:r>
              <a:rPr lang="en-US" sz="1200" b="1" dirty="0">
                <a:latin typeface="Aptos" pitchFamily="34" charset="0"/>
                <a:ea typeface="Aptos" pitchFamily="34" charset="-122"/>
                <a:cs typeface="Aptos" pitchFamily="34" charset="-120"/>
              </a:rPr>
              <a:t>Fichier</a:t>
            </a:r>
            <a:endParaRPr lang="en-US" sz="1200" dirty="0"/>
          </a:p>
        </p:txBody>
      </p:sp>
      <p:sp>
        <p:nvSpPr>
          <p:cNvPr id="6" name="Text 4"/>
          <p:cNvSpPr/>
          <p:nvPr/>
        </p:nvSpPr>
        <p:spPr>
          <a:xfrm>
            <a:off x="2642616" y="1645920"/>
            <a:ext cx="5779008" cy="441198"/>
          </a:xfrm>
          <a:prstGeom prst="rect">
            <a:avLst/>
          </a:prstGeom>
          <a:noFill/>
          <a:ln/>
        </p:spPr>
        <p:txBody>
          <a:bodyPr wrap="square" lIns="254" tIns="254" rIns="254" bIns="254" rtlCol="0" anchor="ctr">
            <a:normAutofit/>
          </a:bodyPr>
          <a:lstStyle/>
          <a:p>
            <a:pPr marL="0" indent="0">
              <a:buNone/>
            </a:pPr>
            <a:r>
              <a:rPr lang="en-US" sz="1200" b="1" dirty="0">
                <a:latin typeface="Aptos" pitchFamily="34" charset="0"/>
                <a:ea typeface="Aptos" pitchFamily="34" charset="-122"/>
                <a:cs typeface="Aptos" pitchFamily="34" charset="-120"/>
              </a:rPr>
              <a:t>Rôle dans l’analyse</a:t>
            </a:r>
            <a:endParaRPr lang="en-US" sz="1200" dirty="0"/>
          </a:p>
        </p:txBody>
      </p:sp>
      <p:sp>
        <p:nvSpPr>
          <p:cNvPr id="7" name="Text 5"/>
          <p:cNvSpPr/>
          <p:nvPr/>
        </p:nvSpPr>
        <p:spPr>
          <a:xfrm>
            <a:off x="8494776" y="1645920"/>
            <a:ext cx="2944368" cy="441198"/>
          </a:xfrm>
          <a:prstGeom prst="rect">
            <a:avLst/>
          </a:prstGeom>
          <a:noFill/>
          <a:ln/>
        </p:spPr>
        <p:txBody>
          <a:bodyPr wrap="square" lIns="254" tIns="254" rIns="254" bIns="254" rtlCol="0" anchor="ctr">
            <a:normAutofit/>
          </a:bodyPr>
          <a:lstStyle/>
          <a:p>
            <a:pPr marL="0" indent="0">
              <a:buNone/>
            </a:pPr>
            <a:r>
              <a:rPr lang="en-US" sz="1200" b="1" dirty="0">
                <a:latin typeface="Aptos" pitchFamily="34" charset="0"/>
                <a:ea typeface="Aptos" pitchFamily="34" charset="-122"/>
                <a:cs typeface="Aptos" pitchFamily="34" charset="-120"/>
              </a:rPr>
              <a:t>Volume / point clé</a:t>
            </a:r>
            <a:endParaRPr lang="en-US" sz="1200" dirty="0"/>
          </a:p>
        </p:txBody>
      </p:sp>
      <p:sp>
        <p:nvSpPr>
          <p:cNvPr id="8" name="Shape 6"/>
          <p:cNvSpPr/>
          <p:nvPr/>
        </p:nvSpPr>
        <p:spPr>
          <a:xfrm>
            <a:off x="777240" y="2114550"/>
            <a:ext cx="10698480" cy="0"/>
          </a:xfrm>
          <a:prstGeom prst="line">
            <a:avLst/>
          </a:prstGeom>
          <a:noFill/>
          <a:ln w="13970">
            <a:solidFill>
              <a:srgbClr val="1E2A36"/>
            </a:solidFill>
            <a:prstDash val="solid"/>
          </a:ln>
        </p:spPr>
        <p:txBody>
          <a:bodyPr/>
          <a:lstStyle/>
          <a:p>
            <a:endParaRPr lang="fr-FR"/>
          </a:p>
        </p:txBody>
      </p:sp>
      <p:sp>
        <p:nvSpPr>
          <p:cNvPr id="9" name="Text 7"/>
          <p:cNvSpPr/>
          <p:nvPr/>
        </p:nvSpPr>
        <p:spPr>
          <a:xfrm>
            <a:off x="813816" y="2160270"/>
            <a:ext cx="175564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erp.xlsx</a:t>
            </a:r>
            <a:endParaRPr lang="en-US" sz="1200" dirty="0"/>
          </a:p>
        </p:txBody>
      </p:sp>
      <p:sp>
        <p:nvSpPr>
          <p:cNvPr id="10" name="Text 8"/>
          <p:cNvSpPr/>
          <p:nvPr/>
        </p:nvSpPr>
        <p:spPr>
          <a:xfrm>
            <a:off x="2642616" y="2160270"/>
            <a:ext cx="577900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Référentiel interne : prix, stock, statut, prix d’achat.</a:t>
            </a:r>
            <a:endParaRPr lang="en-US" sz="1200" dirty="0"/>
          </a:p>
        </p:txBody>
      </p:sp>
      <p:sp>
        <p:nvSpPr>
          <p:cNvPr id="11" name="Text 9"/>
          <p:cNvSpPr/>
          <p:nvPr/>
        </p:nvSpPr>
        <p:spPr>
          <a:xfrm>
            <a:off x="8494776" y="2160270"/>
            <a:ext cx="294436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825 produits, 6 colonnes initiales</a:t>
            </a:r>
            <a:endParaRPr lang="en-US" sz="1200" dirty="0"/>
          </a:p>
        </p:txBody>
      </p:sp>
      <p:sp>
        <p:nvSpPr>
          <p:cNvPr id="12" name="Shape 10"/>
          <p:cNvSpPr/>
          <p:nvPr/>
        </p:nvSpPr>
        <p:spPr>
          <a:xfrm>
            <a:off x="777240" y="2628900"/>
            <a:ext cx="10698480" cy="0"/>
          </a:xfrm>
          <a:prstGeom prst="line">
            <a:avLst/>
          </a:prstGeom>
          <a:noFill/>
          <a:ln w="6350">
            <a:solidFill>
              <a:srgbClr val="D8D2C5"/>
            </a:solidFill>
            <a:prstDash val="solid"/>
          </a:ln>
        </p:spPr>
        <p:txBody>
          <a:bodyPr/>
          <a:lstStyle/>
          <a:p>
            <a:endParaRPr lang="fr-FR"/>
          </a:p>
        </p:txBody>
      </p:sp>
      <p:sp>
        <p:nvSpPr>
          <p:cNvPr id="13" name="Text 11"/>
          <p:cNvSpPr/>
          <p:nvPr/>
        </p:nvSpPr>
        <p:spPr>
          <a:xfrm>
            <a:off x="813816" y="2674620"/>
            <a:ext cx="175564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web.xlsx</a:t>
            </a:r>
            <a:endParaRPr lang="en-US" sz="1200" dirty="0"/>
          </a:p>
        </p:txBody>
      </p:sp>
      <p:sp>
        <p:nvSpPr>
          <p:cNvPr id="14" name="Text 12"/>
          <p:cNvSpPr/>
          <p:nvPr/>
        </p:nvSpPr>
        <p:spPr>
          <a:xfrm>
            <a:off x="2642616" y="2674620"/>
            <a:ext cx="577900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Données e-commerce : SKU, ventes, titres, notes, métadonnées.</a:t>
            </a:r>
            <a:endParaRPr lang="en-US" sz="1200" dirty="0"/>
          </a:p>
        </p:txBody>
      </p:sp>
      <p:sp>
        <p:nvSpPr>
          <p:cNvPr id="15" name="Text 13"/>
          <p:cNvSpPr/>
          <p:nvPr/>
        </p:nvSpPr>
        <p:spPr>
          <a:xfrm>
            <a:off x="8494776" y="2674620"/>
            <a:ext cx="294436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1513 lignes, puis 716 produits réels</a:t>
            </a:r>
            <a:endParaRPr lang="en-US" sz="1200" dirty="0"/>
          </a:p>
        </p:txBody>
      </p:sp>
      <p:sp>
        <p:nvSpPr>
          <p:cNvPr id="16" name="Shape 14"/>
          <p:cNvSpPr/>
          <p:nvPr/>
        </p:nvSpPr>
        <p:spPr>
          <a:xfrm>
            <a:off x="777240" y="3143250"/>
            <a:ext cx="10698480" cy="0"/>
          </a:xfrm>
          <a:prstGeom prst="line">
            <a:avLst/>
          </a:prstGeom>
          <a:noFill/>
          <a:ln w="6350">
            <a:solidFill>
              <a:srgbClr val="D8D2C5"/>
            </a:solidFill>
            <a:prstDash val="solid"/>
          </a:ln>
        </p:spPr>
        <p:txBody>
          <a:bodyPr/>
          <a:lstStyle/>
          <a:p>
            <a:endParaRPr lang="fr-FR"/>
          </a:p>
        </p:txBody>
      </p:sp>
      <p:sp>
        <p:nvSpPr>
          <p:cNvPr id="17" name="Text 15"/>
          <p:cNvSpPr/>
          <p:nvPr/>
        </p:nvSpPr>
        <p:spPr>
          <a:xfrm>
            <a:off x="813816" y="3188970"/>
            <a:ext cx="175564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liaison.xlsx</a:t>
            </a:r>
            <a:endParaRPr lang="en-US" sz="1200" dirty="0"/>
          </a:p>
        </p:txBody>
      </p:sp>
      <p:sp>
        <p:nvSpPr>
          <p:cNvPr id="18" name="Text 16"/>
          <p:cNvSpPr/>
          <p:nvPr/>
        </p:nvSpPr>
        <p:spPr>
          <a:xfrm>
            <a:off x="2642616" y="3188970"/>
            <a:ext cx="577900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Table de correspondance entre product_id ERP et SKU web.</a:t>
            </a:r>
            <a:endParaRPr lang="en-US" sz="1200" dirty="0"/>
          </a:p>
        </p:txBody>
      </p:sp>
      <p:sp>
        <p:nvSpPr>
          <p:cNvPr id="19" name="Text 17"/>
          <p:cNvSpPr/>
          <p:nvPr/>
        </p:nvSpPr>
        <p:spPr>
          <a:xfrm>
            <a:off x="8494776" y="3188970"/>
            <a:ext cx="2944368" cy="441198"/>
          </a:xfrm>
          <a:prstGeom prst="rect">
            <a:avLst/>
          </a:prstGeom>
          <a:noFill/>
          <a:ln/>
        </p:spPr>
        <p:txBody>
          <a:bodyPr wrap="square" lIns="254" tIns="254" rIns="254" bIns="254" rtlCol="0" anchor="ctr">
            <a:normAutofit/>
          </a:bodyPr>
          <a:lstStyle/>
          <a:p>
            <a:pPr marL="0" indent="0">
              <a:buNone/>
            </a:pPr>
            <a:r>
              <a:rPr lang="en-US" sz="1200" dirty="0">
                <a:solidFill>
                  <a:srgbClr val="171A1F"/>
                </a:solidFill>
                <a:latin typeface="Aptos" pitchFamily="34" charset="0"/>
                <a:ea typeface="Aptos" pitchFamily="34" charset="-122"/>
                <a:cs typeface="Aptos" pitchFamily="34" charset="-120"/>
              </a:rPr>
              <a:t>825 lignes, 91 id_web manquants</a:t>
            </a:r>
            <a:endParaRPr lang="en-US" sz="1200" dirty="0"/>
          </a:p>
        </p:txBody>
      </p:sp>
      <p:sp>
        <p:nvSpPr>
          <p:cNvPr id="20" name="Shape 18"/>
          <p:cNvSpPr/>
          <p:nvPr/>
        </p:nvSpPr>
        <p:spPr>
          <a:xfrm>
            <a:off x="777240" y="3657600"/>
            <a:ext cx="10698480" cy="0"/>
          </a:xfrm>
          <a:prstGeom prst="line">
            <a:avLst/>
          </a:prstGeom>
          <a:noFill/>
          <a:ln w="6350">
            <a:solidFill>
              <a:srgbClr val="D8D2C5"/>
            </a:solidFill>
            <a:prstDash val="solid"/>
          </a:ln>
        </p:spPr>
        <p:txBody>
          <a:bodyPr/>
          <a:lstStyle/>
          <a:p>
            <a:endParaRPr lang="fr-FR"/>
          </a:p>
        </p:txBody>
      </p:sp>
      <p:sp>
        <p:nvSpPr>
          <p:cNvPr id="21" name="Text 19"/>
          <p:cNvSpPr/>
          <p:nvPr/>
        </p:nvSpPr>
        <p:spPr>
          <a:xfrm>
            <a:off x="868680" y="4400169"/>
            <a:ext cx="4937760" cy="228600"/>
          </a:xfrm>
          <a:prstGeom prst="rect">
            <a:avLst/>
          </a:prstGeom>
          <a:noFill/>
          <a:ln/>
        </p:spPr>
        <p:txBody>
          <a:bodyPr wrap="square" lIns="0" tIns="0" rIns="0" bIns="0" rtlCol="0" anchor="ctr"/>
          <a:lstStyle/>
          <a:p>
            <a:pPr marL="0" indent="0">
              <a:buNone/>
            </a:pPr>
            <a:r>
              <a:rPr lang="en-US" sz="1000" b="1" dirty="0">
                <a:solidFill>
                  <a:srgbClr val="33A5B6"/>
                </a:solidFill>
              </a:rPr>
              <a:t>ENJEU DU MODÈLE DE DONNÉES</a:t>
            </a:r>
            <a:endParaRPr lang="en-US" sz="1000" dirty="0"/>
          </a:p>
        </p:txBody>
      </p:sp>
      <p:sp>
        <p:nvSpPr>
          <p:cNvPr id="22" name="Shape 20"/>
          <p:cNvSpPr/>
          <p:nvPr/>
        </p:nvSpPr>
        <p:spPr>
          <a:xfrm>
            <a:off x="868680" y="4693158"/>
            <a:ext cx="4937760" cy="0"/>
          </a:xfrm>
          <a:prstGeom prst="line">
            <a:avLst/>
          </a:prstGeom>
          <a:noFill/>
          <a:ln w="15240">
            <a:solidFill>
              <a:srgbClr val="33A5B6"/>
            </a:solidFill>
            <a:prstDash val="solid"/>
          </a:ln>
        </p:spPr>
        <p:txBody>
          <a:bodyPr/>
          <a:lstStyle/>
          <a:p>
            <a:endParaRPr lang="fr-FR" dirty="0"/>
          </a:p>
        </p:txBody>
      </p:sp>
      <p:sp>
        <p:nvSpPr>
          <p:cNvPr id="23" name="Text 21"/>
          <p:cNvSpPr/>
          <p:nvPr/>
        </p:nvSpPr>
        <p:spPr>
          <a:xfrm>
            <a:off x="813816" y="5298947"/>
            <a:ext cx="10241280" cy="822960"/>
          </a:xfrm>
          <a:prstGeom prst="rect">
            <a:avLst/>
          </a:prstGeom>
          <a:noFill/>
          <a:ln/>
        </p:spPr>
        <p:txBody>
          <a:bodyPr wrap="square" lIns="381" tIns="381" rIns="381" bIns="381" rtlCol="0" anchor="t">
            <a:normAutofit/>
          </a:bodyPr>
          <a:lstStyle/>
          <a:p>
            <a:r>
              <a:rPr lang="fr-FR" sz="1600" b="1" dirty="0"/>
              <a:t>Le projet consiste principalement à s’assurer que chaque produit du site web est correctement associé au même produit dans l’ERP.</a:t>
            </a:r>
            <a:endParaRPr lang="en-US" sz="1700" b="1"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4</a:t>
            </a:fld>
            <a:endParaRPr lang="en-US"/>
          </a:p>
        </p:txBody>
      </p:sp>
      <p:pic>
        <p:nvPicPr>
          <p:cNvPr id="26" name="Image 25">
            <a:extLst>
              <a:ext uri="{FF2B5EF4-FFF2-40B4-BE49-F238E27FC236}">
                <a16:creationId xmlns:a16="http://schemas.microsoft.com/office/drawing/2014/main" id="{6C2F5586-3A7D-EF2C-DCAB-1D30C986A688}"/>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MÉTHODE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Méthodologie de traitement</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Shape 3"/>
          <p:cNvSpPr/>
          <p:nvPr/>
        </p:nvSpPr>
        <p:spPr>
          <a:xfrm>
            <a:off x="2011680" y="2743200"/>
            <a:ext cx="868680" cy="0"/>
          </a:xfrm>
          <a:prstGeom prst="line">
            <a:avLst/>
          </a:prstGeom>
          <a:noFill/>
          <a:ln w="17780">
            <a:solidFill>
              <a:srgbClr val="D8D2C5"/>
            </a:solidFill>
            <a:prstDash val="solid"/>
            <a:headEnd type="none"/>
            <a:tailEnd type="triangle"/>
          </a:ln>
        </p:spPr>
        <p:txBody>
          <a:bodyPr/>
          <a:lstStyle/>
          <a:p>
            <a:endParaRPr lang="fr-FR"/>
          </a:p>
        </p:txBody>
      </p:sp>
      <p:sp>
        <p:nvSpPr>
          <p:cNvPr id="6" name="Shape 4"/>
          <p:cNvSpPr/>
          <p:nvPr/>
        </p:nvSpPr>
        <p:spPr>
          <a:xfrm>
            <a:off x="4297680" y="2743200"/>
            <a:ext cx="868680" cy="0"/>
          </a:xfrm>
          <a:prstGeom prst="line">
            <a:avLst/>
          </a:prstGeom>
          <a:noFill/>
          <a:ln w="17780">
            <a:solidFill>
              <a:srgbClr val="D8D2C5"/>
            </a:solidFill>
            <a:prstDash val="solid"/>
            <a:headEnd type="none"/>
            <a:tailEnd type="triangle"/>
          </a:ln>
        </p:spPr>
        <p:txBody>
          <a:bodyPr/>
          <a:lstStyle/>
          <a:p>
            <a:endParaRPr lang="fr-FR"/>
          </a:p>
        </p:txBody>
      </p:sp>
      <p:sp>
        <p:nvSpPr>
          <p:cNvPr id="7" name="Shape 5"/>
          <p:cNvSpPr/>
          <p:nvPr/>
        </p:nvSpPr>
        <p:spPr>
          <a:xfrm>
            <a:off x="6583680" y="2743200"/>
            <a:ext cx="868680" cy="0"/>
          </a:xfrm>
          <a:prstGeom prst="line">
            <a:avLst/>
          </a:prstGeom>
          <a:noFill/>
          <a:ln w="17780">
            <a:solidFill>
              <a:srgbClr val="D8D2C5"/>
            </a:solidFill>
            <a:prstDash val="solid"/>
            <a:headEnd type="none"/>
            <a:tailEnd type="triangle"/>
          </a:ln>
        </p:spPr>
        <p:txBody>
          <a:bodyPr/>
          <a:lstStyle/>
          <a:p>
            <a:endParaRPr lang="fr-FR"/>
          </a:p>
        </p:txBody>
      </p:sp>
      <p:sp>
        <p:nvSpPr>
          <p:cNvPr id="8" name="Shape 6"/>
          <p:cNvSpPr/>
          <p:nvPr/>
        </p:nvSpPr>
        <p:spPr>
          <a:xfrm>
            <a:off x="8869680" y="2743200"/>
            <a:ext cx="868680" cy="0"/>
          </a:xfrm>
          <a:prstGeom prst="line">
            <a:avLst/>
          </a:prstGeom>
          <a:noFill/>
          <a:ln w="17780">
            <a:solidFill>
              <a:srgbClr val="D8D2C5"/>
            </a:solidFill>
            <a:prstDash val="solid"/>
            <a:headEnd type="none"/>
            <a:tailEnd type="triangle"/>
          </a:ln>
        </p:spPr>
        <p:txBody>
          <a:bodyPr/>
          <a:lstStyle/>
          <a:p>
            <a:endParaRPr lang="fr-FR"/>
          </a:p>
        </p:txBody>
      </p:sp>
      <p:sp>
        <p:nvSpPr>
          <p:cNvPr id="9" name="Shape 7"/>
          <p:cNvSpPr/>
          <p:nvPr/>
        </p:nvSpPr>
        <p:spPr>
          <a:xfrm>
            <a:off x="640080" y="2148840"/>
            <a:ext cx="1508760" cy="1188720"/>
          </a:xfrm>
          <a:prstGeom prst="roundRect">
            <a:avLst>
              <a:gd name="adj" fmla="val 4615"/>
            </a:avLst>
          </a:prstGeom>
          <a:solidFill>
            <a:srgbClr val="FFFFFF">
              <a:alpha val="0"/>
            </a:srgbClr>
          </a:solidFill>
          <a:ln w="13970">
            <a:solidFill>
              <a:srgbClr val="FF7200"/>
            </a:solidFill>
            <a:prstDash val="solid"/>
          </a:ln>
        </p:spPr>
        <p:txBody>
          <a:bodyPr/>
          <a:lstStyle/>
          <a:p>
            <a:endParaRPr lang="fr-FR"/>
          </a:p>
        </p:txBody>
      </p:sp>
      <p:sp>
        <p:nvSpPr>
          <p:cNvPr id="10" name="Text 8"/>
          <p:cNvSpPr/>
          <p:nvPr/>
        </p:nvSpPr>
        <p:spPr>
          <a:xfrm>
            <a:off x="731520" y="2258568"/>
            <a:ext cx="320040" cy="228600"/>
          </a:xfrm>
          <a:prstGeom prst="rect">
            <a:avLst/>
          </a:prstGeom>
          <a:noFill/>
          <a:ln/>
        </p:spPr>
        <p:txBody>
          <a:bodyPr wrap="square" lIns="0" tIns="0" rIns="0" bIns="0" rtlCol="0" anchor="ctr"/>
          <a:lstStyle/>
          <a:p>
            <a:pPr marL="0" indent="0">
              <a:buNone/>
            </a:pPr>
            <a:r>
              <a:rPr lang="en-US" sz="1000" b="1" dirty="0">
                <a:solidFill>
                  <a:srgbClr val="FF7200"/>
                </a:solidFill>
              </a:rPr>
              <a:t>1</a:t>
            </a:r>
            <a:endParaRPr lang="en-US" sz="1000" dirty="0"/>
          </a:p>
        </p:txBody>
      </p:sp>
      <p:sp>
        <p:nvSpPr>
          <p:cNvPr id="11" name="Text 9"/>
          <p:cNvSpPr/>
          <p:nvPr/>
        </p:nvSpPr>
        <p:spPr>
          <a:xfrm>
            <a:off x="749808" y="2542032"/>
            <a:ext cx="1261872" cy="228600"/>
          </a:xfrm>
          <a:prstGeom prst="rect">
            <a:avLst/>
          </a:prstGeom>
          <a:noFill/>
          <a:ln/>
        </p:spPr>
        <p:txBody>
          <a:bodyPr wrap="square" lIns="0" tIns="0" rIns="0" bIns="0" rtlCol="0" anchor="ctr"/>
          <a:lstStyle/>
          <a:p>
            <a:pPr marL="0" indent="0" algn="ctr">
              <a:buNone/>
            </a:pPr>
            <a:r>
              <a:rPr lang="en-US" sz="1250" b="1" dirty="0">
                <a:solidFill>
                  <a:srgbClr val="1E2A36"/>
                </a:solidFill>
              </a:rPr>
              <a:t>Importer</a:t>
            </a:r>
            <a:endParaRPr lang="en-US" sz="1250" dirty="0"/>
          </a:p>
        </p:txBody>
      </p:sp>
      <p:sp>
        <p:nvSpPr>
          <p:cNvPr id="12" name="Text 10"/>
          <p:cNvSpPr/>
          <p:nvPr/>
        </p:nvSpPr>
        <p:spPr>
          <a:xfrm>
            <a:off x="731520" y="2852928"/>
            <a:ext cx="1325880" cy="228600"/>
          </a:xfrm>
          <a:prstGeom prst="rect">
            <a:avLst/>
          </a:prstGeom>
          <a:noFill/>
          <a:ln/>
        </p:spPr>
        <p:txBody>
          <a:bodyPr wrap="square" lIns="0" tIns="0" rIns="0" bIns="0" rtlCol="0" anchor="ctr"/>
          <a:lstStyle/>
          <a:p>
            <a:pPr marL="0" indent="0" algn="ctr">
              <a:buNone/>
            </a:pPr>
            <a:r>
              <a:rPr lang="en-US" sz="900" dirty="0">
                <a:solidFill>
                  <a:srgbClr val="655F57"/>
                </a:solidFill>
              </a:rPr>
              <a:t>Excel → Pandas</a:t>
            </a:r>
            <a:endParaRPr lang="en-US" sz="900" dirty="0"/>
          </a:p>
        </p:txBody>
      </p:sp>
      <p:sp>
        <p:nvSpPr>
          <p:cNvPr id="13" name="Shape 11"/>
          <p:cNvSpPr/>
          <p:nvPr/>
        </p:nvSpPr>
        <p:spPr>
          <a:xfrm>
            <a:off x="2926080" y="2148840"/>
            <a:ext cx="1508760" cy="1188720"/>
          </a:xfrm>
          <a:prstGeom prst="roundRect">
            <a:avLst>
              <a:gd name="adj" fmla="val 4615"/>
            </a:avLst>
          </a:prstGeom>
          <a:solidFill>
            <a:srgbClr val="FFFFFF">
              <a:alpha val="0"/>
            </a:srgbClr>
          </a:solidFill>
          <a:ln w="13970">
            <a:solidFill>
              <a:srgbClr val="D8D2C5"/>
            </a:solidFill>
            <a:prstDash val="solid"/>
          </a:ln>
        </p:spPr>
        <p:txBody>
          <a:bodyPr/>
          <a:lstStyle/>
          <a:p>
            <a:endParaRPr lang="fr-FR"/>
          </a:p>
        </p:txBody>
      </p:sp>
      <p:sp>
        <p:nvSpPr>
          <p:cNvPr id="14" name="Text 12"/>
          <p:cNvSpPr/>
          <p:nvPr/>
        </p:nvSpPr>
        <p:spPr>
          <a:xfrm>
            <a:off x="3017520" y="2258568"/>
            <a:ext cx="320040" cy="228600"/>
          </a:xfrm>
          <a:prstGeom prst="rect">
            <a:avLst/>
          </a:prstGeom>
          <a:noFill/>
          <a:ln/>
        </p:spPr>
        <p:txBody>
          <a:bodyPr wrap="square" lIns="0" tIns="0" rIns="0" bIns="0" rtlCol="0" anchor="ctr"/>
          <a:lstStyle/>
          <a:p>
            <a:pPr marL="0" indent="0">
              <a:buNone/>
            </a:pPr>
            <a:r>
              <a:rPr lang="en-US" sz="1000" b="1" dirty="0">
                <a:solidFill>
                  <a:srgbClr val="FF7200"/>
                </a:solidFill>
              </a:rPr>
              <a:t>2</a:t>
            </a:r>
            <a:endParaRPr lang="en-US" sz="1000" dirty="0"/>
          </a:p>
        </p:txBody>
      </p:sp>
      <p:sp>
        <p:nvSpPr>
          <p:cNvPr id="15" name="Text 13"/>
          <p:cNvSpPr/>
          <p:nvPr/>
        </p:nvSpPr>
        <p:spPr>
          <a:xfrm>
            <a:off x="3035808" y="2542032"/>
            <a:ext cx="1261872" cy="228600"/>
          </a:xfrm>
          <a:prstGeom prst="rect">
            <a:avLst/>
          </a:prstGeom>
          <a:noFill/>
          <a:ln/>
        </p:spPr>
        <p:txBody>
          <a:bodyPr wrap="square" lIns="0" tIns="0" rIns="0" bIns="0" rtlCol="0" anchor="ctr"/>
          <a:lstStyle/>
          <a:p>
            <a:pPr marL="0" indent="0" algn="ctr">
              <a:buNone/>
            </a:pPr>
            <a:r>
              <a:rPr lang="en-US" sz="1250" b="1" dirty="0">
                <a:solidFill>
                  <a:srgbClr val="1E2A36"/>
                </a:solidFill>
              </a:rPr>
              <a:t>Contrôler</a:t>
            </a:r>
            <a:endParaRPr lang="en-US" sz="1250" dirty="0"/>
          </a:p>
        </p:txBody>
      </p:sp>
      <p:sp>
        <p:nvSpPr>
          <p:cNvPr id="16" name="Text 14"/>
          <p:cNvSpPr/>
          <p:nvPr/>
        </p:nvSpPr>
        <p:spPr>
          <a:xfrm>
            <a:off x="3017520" y="2852928"/>
            <a:ext cx="1325880" cy="228600"/>
          </a:xfrm>
          <a:prstGeom prst="rect">
            <a:avLst/>
          </a:prstGeom>
          <a:noFill/>
          <a:ln/>
        </p:spPr>
        <p:txBody>
          <a:bodyPr wrap="square" lIns="0" tIns="0" rIns="0" bIns="0" rtlCol="0" anchor="ctr"/>
          <a:lstStyle/>
          <a:p>
            <a:pPr marL="0" indent="0" algn="ctr">
              <a:buNone/>
            </a:pPr>
            <a:r>
              <a:rPr lang="en-US" sz="900" dirty="0">
                <a:solidFill>
                  <a:srgbClr val="655F57"/>
                </a:solidFill>
              </a:rPr>
              <a:t>types, doublons, NA</a:t>
            </a:r>
            <a:endParaRPr lang="en-US" sz="900" dirty="0"/>
          </a:p>
        </p:txBody>
      </p:sp>
      <p:sp>
        <p:nvSpPr>
          <p:cNvPr id="17" name="Shape 15"/>
          <p:cNvSpPr/>
          <p:nvPr/>
        </p:nvSpPr>
        <p:spPr>
          <a:xfrm>
            <a:off x="5212080" y="2148840"/>
            <a:ext cx="1508760" cy="1188720"/>
          </a:xfrm>
          <a:prstGeom prst="roundRect">
            <a:avLst>
              <a:gd name="adj" fmla="val 4615"/>
            </a:avLst>
          </a:prstGeom>
          <a:solidFill>
            <a:srgbClr val="FFFFFF">
              <a:alpha val="0"/>
            </a:srgbClr>
          </a:solidFill>
          <a:ln w="13970">
            <a:solidFill>
              <a:srgbClr val="D8D2C5"/>
            </a:solidFill>
            <a:prstDash val="solid"/>
          </a:ln>
        </p:spPr>
        <p:txBody>
          <a:bodyPr/>
          <a:lstStyle/>
          <a:p>
            <a:endParaRPr lang="fr-FR"/>
          </a:p>
        </p:txBody>
      </p:sp>
      <p:sp>
        <p:nvSpPr>
          <p:cNvPr id="18" name="Text 16"/>
          <p:cNvSpPr/>
          <p:nvPr/>
        </p:nvSpPr>
        <p:spPr>
          <a:xfrm>
            <a:off x="5303520" y="2258568"/>
            <a:ext cx="320040" cy="228600"/>
          </a:xfrm>
          <a:prstGeom prst="rect">
            <a:avLst/>
          </a:prstGeom>
          <a:noFill/>
          <a:ln/>
        </p:spPr>
        <p:txBody>
          <a:bodyPr wrap="square" lIns="0" tIns="0" rIns="0" bIns="0" rtlCol="0" anchor="ctr"/>
          <a:lstStyle/>
          <a:p>
            <a:pPr marL="0" indent="0">
              <a:buNone/>
            </a:pPr>
            <a:r>
              <a:rPr lang="en-US" sz="1000" b="1" dirty="0">
                <a:solidFill>
                  <a:srgbClr val="FF7200"/>
                </a:solidFill>
              </a:rPr>
              <a:t>3</a:t>
            </a:r>
            <a:endParaRPr lang="en-US" sz="1000" dirty="0"/>
          </a:p>
        </p:txBody>
      </p:sp>
      <p:sp>
        <p:nvSpPr>
          <p:cNvPr id="19" name="Text 17"/>
          <p:cNvSpPr/>
          <p:nvPr/>
        </p:nvSpPr>
        <p:spPr>
          <a:xfrm>
            <a:off x="5321808" y="2542032"/>
            <a:ext cx="1261872" cy="228600"/>
          </a:xfrm>
          <a:prstGeom prst="rect">
            <a:avLst/>
          </a:prstGeom>
          <a:noFill/>
          <a:ln/>
        </p:spPr>
        <p:txBody>
          <a:bodyPr wrap="square" lIns="0" tIns="0" rIns="0" bIns="0" rtlCol="0" anchor="ctr"/>
          <a:lstStyle/>
          <a:p>
            <a:pPr marL="0" indent="0" algn="ctr">
              <a:buNone/>
            </a:pPr>
            <a:r>
              <a:rPr lang="en-US" sz="1250" b="1" dirty="0">
                <a:solidFill>
                  <a:srgbClr val="1E2A36"/>
                </a:solidFill>
              </a:rPr>
              <a:t>Corriger</a:t>
            </a:r>
            <a:endParaRPr lang="en-US" sz="1250" dirty="0"/>
          </a:p>
        </p:txBody>
      </p:sp>
      <p:sp>
        <p:nvSpPr>
          <p:cNvPr id="20" name="Text 18"/>
          <p:cNvSpPr/>
          <p:nvPr/>
        </p:nvSpPr>
        <p:spPr>
          <a:xfrm>
            <a:off x="5303520" y="2852928"/>
            <a:ext cx="1325880" cy="228600"/>
          </a:xfrm>
          <a:prstGeom prst="rect">
            <a:avLst/>
          </a:prstGeom>
          <a:noFill/>
          <a:ln/>
        </p:spPr>
        <p:txBody>
          <a:bodyPr wrap="square" lIns="0" tIns="0" rIns="0" bIns="0" rtlCol="0" anchor="ctr"/>
          <a:lstStyle/>
          <a:p>
            <a:pPr marL="0" indent="0" algn="ctr">
              <a:buNone/>
            </a:pPr>
            <a:r>
              <a:rPr lang="en-US" sz="900" dirty="0">
                <a:solidFill>
                  <a:srgbClr val="655F57"/>
                </a:solidFill>
              </a:rPr>
              <a:t>règles métier</a:t>
            </a:r>
            <a:endParaRPr lang="en-US" sz="900" dirty="0"/>
          </a:p>
        </p:txBody>
      </p:sp>
      <p:sp>
        <p:nvSpPr>
          <p:cNvPr id="21" name="Shape 19"/>
          <p:cNvSpPr/>
          <p:nvPr/>
        </p:nvSpPr>
        <p:spPr>
          <a:xfrm>
            <a:off x="7498080" y="2148840"/>
            <a:ext cx="1508760" cy="1188720"/>
          </a:xfrm>
          <a:prstGeom prst="roundRect">
            <a:avLst>
              <a:gd name="adj" fmla="val 4615"/>
            </a:avLst>
          </a:prstGeom>
          <a:solidFill>
            <a:srgbClr val="FFFFFF">
              <a:alpha val="0"/>
            </a:srgbClr>
          </a:solidFill>
          <a:ln w="13970">
            <a:solidFill>
              <a:srgbClr val="D8D2C5"/>
            </a:solidFill>
            <a:prstDash val="solid"/>
          </a:ln>
        </p:spPr>
        <p:txBody>
          <a:bodyPr/>
          <a:lstStyle/>
          <a:p>
            <a:endParaRPr lang="fr-FR"/>
          </a:p>
        </p:txBody>
      </p:sp>
      <p:sp>
        <p:nvSpPr>
          <p:cNvPr id="22" name="Text 20"/>
          <p:cNvSpPr/>
          <p:nvPr/>
        </p:nvSpPr>
        <p:spPr>
          <a:xfrm>
            <a:off x="7589520" y="2258568"/>
            <a:ext cx="320040" cy="228600"/>
          </a:xfrm>
          <a:prstGeom prst="rect">
            <a:avLst/>
          </a:prstGeom>
          <a:noFill/>
          <a:ln/>
        </p:spPr>
        <p:txBody>
          <a:bodyPr wrap="square" lIns="0" tIns="0" rIns="0" bIns="0" rtlCol="0" anchor="ctr"/>
          <a:lstStyle/>
          <a:p>
            <a:pPr marL="0" indent="0">
              <a:buNone/>
            </a:pPr>
            <a:r>
              <a:rPr lang="en-US" sz="1000" b="1" dirty="0">
                <a:solidFill>
                  <a:srgbClr val="FF7200"/>
                </a:solidFill>
              </a:rPr>
              <a:t>4</a:t>
            </a:r>
            <a:endParaRPr lang="en-US" sz="1000" dirty="0"/>
          </a:p>
        </p:txBody>
      </p:sp>
      <p:sp>
        <p:nvSpPr>
          <p:cNvPr id="23" name="Text 21"/>
          <p:cNvSpPr/>
          <p:nvPr/>
        </p:nvSpPr>
        <p:spPr>
          <a:xfrm>
            <a:off x="7607808" y="2542032"/>
            <a:ext cx="1261872" cy="228600"/>
          </a:xfrm>
          <a:prstGeom prst="rect">
            <a:avLst/>
          </a:prstGeom>
          <a:noFill/>
          <a:ln/>
        </p:spPr>
        <p:txBody>
          <a:bodyPr wrap="square" lIns="0" tIns="0" rIns="0" bIns="0" rtlCol="0" anchor="ctr"/>
          <a:lstStyle/>
          <a:p>
            <a:pPr marL="0" indent="0" algn="ctr">
              <a:buNone/>
            </a:pPr>
            <a:r>
              <a:rPr lang="en-US" sz="1250" b="1" dirty="0">
                <a:solidFill>
                  <a:srgbClr val="1E2A36"/>
                </a:solidFill>
              </a:rPr>
              <a:t>Fusionner</a:t>
            </a:r>
            <a:endParaRPr lang="en-US" sz="1250" dirty="0"/>
          </a:p>
        </p:txBody>
      </p:sp>
      <p:sp>
        <p:nvSpPr>
          <p:cNvPr id="24" name="Text 22"/>
          <p:cNvSpPr/>
          <p:nvPr/>
        </p:nvSpPr>
        <p:spPr>
          <a:xfrm>
            <a:off x="7589520" y="2852928"/>
            <a:ext cx="1325880" cy="228600"/>
          </a:xfrm>
          <a:prstGeom prst="rect">
            <a:avLst/>
          </a:prstGeom>
          <a:noFill/>
          <a:ln/>
        </p:spPr>
        <p:txBody>
          <a:bodyPr wrap="square" lIns="0" tIns="0" rIns="0" bIns="0" rtlCol="0" anchor="ctr"/>
          <a:lstStyle/>
          <a:p>
            <a:pPr marL="0" indent="0" algn="ctr">
              <a:buNone/>
            </a:pPr>
            <a:r>
              <a:rPr lang="en-US" sz="900" dirty="0">
                <a:solidFill>
                  <a:srgbClr val="655F57"/>
                </a:solidFill>
              </a:rPr>
              <a:t>ERP + liaison + web</a:t>
            </a:r>
            <a:endParaRPr lang="en-US" sz="900" dirty="0"/>
          </a:p>
        </p:txBody>
      </p:sp>
      <p:sp>
        <p:nvSpPr>
          <p:cNvPr id="25" name="Shape 23"/>
          <p:cNvSpPr/>
          <p:nvPr/>
        </p:nvSpPr>
        <p:spPr>
          <a:xfrm>
            <a:off x="9784080" y="2148840"/>
            <a:ext cx="1508760" cy="1188720"/>
          </a:xfrm>
          <a:prstGeom prst="roundRect">
            <a:avLst>
              <a:gd name="adj" fmla="val 4615"/>
            </a:avLst>
          </a:prstGeom>
          <a:solidFill>
            <a:srgbClr val="FFFFFF">
              <a:alpha val="0"/>
            </a:srgbClr>
          </a:solidFill>
          <a:ln w="13970">
            <a:solidFill>
              <a:srgbClr val="33A5B6"/>
            </a:solidFill>
            <a:prstDash val="solid"/>
          </a:ln>
        </p:spPr>
        <p:txBody>
          <a:bodyPr/>
          <a:lstStyle/>
          <a:p>
            <a:endParaRPr lang="fr-FR"/>
          </a:p>
        </p:txBody>
      </p:sp>
      <p:sp>
        <p:nvSpPr>
          <p:cNvPr id="26" name="Text 24"/>
          <p:cNvSpPr/>
          <p:nvPr/>
        </p:nvSpPr>
        <p:spPr>
          <a:xfrm>
            <a:off x="9875520" y="2258568"/>
            <a:ext cx="320040" cy="228600"/>
          </a:xfrm>
          <a:prstGeom prst="rect">
            <a:avLst/>
          </a:prstGeom>
          <a:noFill/>
          <a:ln/>
        </p:spPr>
        <p:txBody>
          <a:bodyPr wrap="square" lIns="0" tIns="0" rIns="0" bIns="0" rtlCol="0" anchor="ctr"/>
          <a:lstStyle/>
          <a:p>
            <a:pPr marL="0" indent="0">
              <a:buNone/>
            </a:pPr>
            <a:r>
              <a:rPr lang="en-US" sz="1000" b="1" dirty="0">
                <a:solidFill>
                  <a:srgbClr val="33A5B6"/>
                </a:solidFill>
              </a:rPr>
              <a:t>5</a:t>
            </a:r>
            <a:endParaRPr lang="en-US" sz="1000" dirty="0"/>
          </a:p>
        </p:txBody>
      </p:sp>
      <p:sp>
        <p:nvSpPr>
          <p:cNvPr id="27" name="Text 25"/>
          <p:cNvSpPr/>
          <p:nvPr/>
        </p:nvSpPr>
        <p:spPr>
          <a:xfrm>
            <a:off x="9893808" y="2542032"/>
            <a:ext cx="1261872" cy="228600"/>
          </a:xfrm>
          <a:prstGeom prst="rect">
            <a:avLst/>
          </a:prstGeom>
          <a:noFill/>
          <a:ln/>
        </p:spPr>
        <p:txBody>
          <a:bodyPr wrap="square" lIns="0" tIns="0" rIns="0" bIns="0" rtlCol="0" anchor="ctr"/>
          <a:lstStyle/>
          <a:p>
            <a:pPr marL="0" indent="0" algn="ctr">
              <a:buNone/>
            </a:pPr>
            <a:r>
              <a:rPr lang="en-US" sz="1250" b="1" dirty="0">
                <a:solidFill>
                  <a:srgbClr val="1E2A36"/>
                </a:solidFill>
              </a:rPr>
              <a:t>Analyser</a:t>
            </a:r>
            <a:endParaRPr lang="en-US" sz="1250" dirty="0"/>
          </a:p>
        </p:txBody>
      </p:sp>
      <p:sp>
        <p:nvSpPr>
          <p:cNvPr id="28" name="Text 26"/>
          <p:cNvSpPr/>
          <p:nvPr/>
        </p:nvSpPr>
        <p:spPr>
          <a:xfrm>
            <a:off x="9875520" y="2852928"/>
            <a:ext cx="1325880" cy="228600"/>
          </a:xfrm>
          <a:prstGeom prst="rect">
            <a:avLst/>
          </a:prstGeom>
          <a:noFill/>
          <a:ln/>
        </p:spPr>
        <p:txBody>
          <a:bodyPr wrap="square" lIns="0" tIns="0" rIns="0" bIns="0" rtlCol="0" anchor="ctr"/>
          <a:lstStyle/>
          <a:p>
            <a:pPr marL="0" indent="0" algn="ctr">
              <a:buNone/>
            </a:pPr>
            <a:r>
              <a:rPr lang="en-US" sz="900" dirty="0">
                <a:solidFill>
                  <a:srgbClr val="655F57"/>
                </a:solidFill>
              </a:rPr>
              <a:t>CA, stock, marge</a:t>
            </a:r>
            <a:endParaRPr lang="en-US" sz="900" dirty="0"/>
          </a:p>
        </p:txBody>
      </p:sp>
      <p:sp>
        <p:nvSpPr>
          <p:cNvPr id="29" name="Text 27"/>
          <p:cNvSpPr/>
          <p:nvPr/>
        </p:nvSpPr>
        <p:spPr>
          <a:xfrm>
            <a:off x="754380" y="4684394"/>
            <a:ext cx="10424160" cy="2313431"/>
          </a:xfrm>
          <a:prstGeom prst="rect">
            <a:avLst/>
          </a:prstGeom>
          <a:noFill/>
          <a:ln/>
        </p:spPr>
        <p:txBody>
          <a:bodyPr wrap="square" lIns="635" tIns="635" rIns="635" bIns="635" rtlCol="0" anchor="t">
            <a:normAutofit/>
          </a:bodyPr>
          <a:lstStyle/>
          <a:p>
            <a:r>
              <a:rPr lang="en-US" sz="1500" dirty="0">
                <a:solidFill>
                  <a:srgbClr val="171A1F"/>
                </a:solidFill>
              </a:rPr>
              <a:t>Toutes les corrections sont traçables dans le notebook.</a:t>
            </a:r>
          </a:p>
          <a:p>
            <a:endParaRPr lang="en-US" sz="1500" dirty="0"/>
          </a:p>
          <a:p>
            <a:r>
              <a:rPr lang="en-US" sz="1500" dirty="0">
                <a:solidFill>
                  <a:srgbClr val="171A1F"/>
                </a:solidFill>
              </a:rPr>
              <a:t>Les suppressions concernent uniquement les lignes non exploitables pour la jointure ou l’analyse </a:t>
            </a:r>
            <a:r>
              <a:rPr lang="en-US" sz="1500" dirty="0" err="1">
                <a:solidFill>
                  <a:srgbClr val="171A1F"/>
                </a:solidFill>
              </a:rPr>
              <a:t>commerciale</a:t>
            </a:r>
            <a:r>
              <a:rPr lang="en-US" sz="1500" dirty="0">
                <a:solidFill>
                  <a:srgbClr val="171A1F"/>
                </a:solidFill>
              </a:rPr>
              <a:t>.</a:t>
            </a:r>
          </a:p>
          <a:p>
            <a:endParaRPr lang="en-US" sz="1500" dirty="0"/>
          </a:p>
          <a:p>
            <a:r>
              <a:rPr lang="en-US" sz="1500" dirty="0">
                <a:solidFill>
                  <a:srgbClr val="171A1F"/>
                </a:solidFill>
              </a:rPr>
              <a:t>Les analyses sont réalisées sur le périmètre fiable : produits ayant une correspondance web.</a:t>
            </a:r>
            <a:endParaRPr lang="en-US" sz="1500" dirty="0"/>
          </a:p>
        </p:txBody>
      </p:sp>
      <p:sp>
        <p:nvSpPr>
          <p:cNvPr id="30"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5</a:t>
            </a:fld>
            <a:endParaRPr lang="en-US"/>
          </a:p>
        </p:txBody>
      </p:sp>
      <p:pic>
        <p:nvPicPr>
          <p:cNvPr id="32" name="Image 31">
            <a:extLst>
              <a:ext uri="{FF2B5EF4-FFF2-40B4-BE49-F238E27FC236}">
                <a16:creationId xmlns:a16="http://schemas.microsoft.com/office/drawing/2014/main" id="{8440290F-E625-6C67-668B-348EFF8ED884}"/>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NETTOYAGE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Qualité des données ERP : anomalies corrigées</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graphicFrame>
        <p:nvGraphicFramePr>
          <p:cNvPr id="5" name="Chart 0"/>
          <p:cNvGraphicFramePr/>
          <p:nvPr>
            <p:extLst>
              <p:ext uri="{D42A27DB-BD31-4B8C-83A1-F6EECF244321}">
                <p14:modId xmlns:p14="http://schemas.microsoft.com/office/powerpoint/2010/main" val="101568784"/>
              </p:ext>
            </p:extLst>
          </p:nvPr>
        </p:nvGraphicFramePr>
        <p:xfrm>
          <a:off x="853440" y="2204085"/>
          <a:ext cx="5120640"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3"/>
          <p:cNvSpPr/>
          <p:nvPr/>
        </p:nvSpPr>
        <p:spPr>
          <a:xfrm>
            <a:off x="6446520" y="1975485"/>
            <a:ext cx="4389120" cy="228600"/>
          </a:xfrm>
          <a:prstGeom prst="rect">
            <a:avLst/>
          </a:prstGeom>
          <a:noFill/>
          <a:ln/>
        </p:spPr>
        <p:txBody>
          <a:bodyPr wrap="square" lIns="0" tIns="0" rIns="0" bIns="0" rtlCol="0" anchor="ctr"/>
          <a:lstStyle/>
          <a:p>
            <a:pPr marL="0" indent="0">
              <a:buNone/>
            </a:pPr>
            <a:r>
              <a:rPr lang="en-US" sz="1000" b="1" dirty="0">
                <a:solidFill>
                  <a:srgbClr val="33A5B6"/>
                </a:solidFill>
              </a:rPr>
              <a:t>RÈGLES DE CORRECTION</a:t>
            </a:r>
            <a:endParaRPr lang="en-US" sz="1000" dirty="0"/>
          </a:p>
        </p:txBody>
      </p:sp>
      <p:sp>
        <p:nvSpPr>
          <p:cNvPr id="7" name="Shape 4"/>
          <p:cNvSpPr/>
          <p:nvPr/>
        </p:nvSpPr>
        <p:spPr>
          <a:xfrm>
            <a:off x="6446520" y="2350008"/>
            <a:ext cx="4389120" cy="0"/>
          </a:xfrm>
          <a:prstGeom prst="line">
            <a:avLst/>
          </a:prstGeom>
          <a:noFill/>
          <a:ln w="15240">
            <a:solidFill>
              <a:srgbClr val="33A5B6"/>
            </a:solidFill>
            <a:prstDash val="solid"/>
          </a:ln>
        </p:spPr>
        <p:txBody>
          <a:bodyPr/>
          <a:lstStyle/>
          <a:p>
            <a:endParaRPr lang="fr-FR" dirty="0"/>
          </a:p>
        </p:txBody>
      </p:sp>
      <p:sp>
        <p:nvSpPr>
          <p:cNvPr id="8" name="Text 5"/>
          <p:cNvSpPr/>
          <p:nvPr/>
        </p:nvSpPr>
        <p:spPr>
          <a:xfrm>
            <a:off x="6446520" y="2675382"/>
            <a:ext cx="4846320" cy="2834640"/>
          </a:xfrm>
          <a:prstGeom prst="rect">
            <a:avLst/>
          </a:prstGeom>
          <a:noFill/>
          <a:ln/>
        </p:spPr>
        <p:txBody>
          <a:bodyPr wrap="square" lIns="635" tIns="635" rIns="635" bIns="635" rtlCol="0" anchor="t">
            <a:normAutofit/>
          </a:bodyPr>
          <a:lstStyle/>
          <a:p>
            <a:r>
              <a:rPr lang="en-US" sz="1400" dirty="0" err="1">
                <a:solidFill>
                  <a:srgbClr val="171A1F"/>
                </a:solidFill>
              </a:rPr>
              <a:t>Statut</a:t>
            </a:r>
            <a:r>
              <a:rPr lang="en-US" sz="1400" dirty="0">
                <a:solidFill>
                  <a:srgbClr val="171A1F"/>
                </a:solidFill>
              </a:rPr>
              <a:t> de stock </a:t>
            </a:r>
            <a:r>
              <a:rPr lang="en-US" sz="1400" dirty="0" err="1">
                <a:solidFill>
                  <a:srgbClr val="171A1F"/>
                </a:solidFill>
              </a:rPr>
              <a:t>recalculé</a:t>
            </a:r>
            <a:r>
              <a:rPr lang="en-US" sz="1400" dirty="0">
                <a:solidFill>
                  <a:srgbClr val="171A1F"/>
                </a:solidFill>
              </a:rPr>
              <a:t> depuis la quantité </a:t>
            </a:r>
            <a:r>
              <a:rPr lang="en-US" sz="1400" dirty="0" err="1">
                <a:solidFill>
                  <a:srgbClr val="171A1F"/>
                </a:solidFill>
              </a:rPr>
              <a:t>réelle</a:t>
            </a:r>
            <a:r>
              <a:rPr lang="en-US" sz="1400" dirty="0">
                <a:solidFill>
                  <a:srgbClr val="171A1F"/>
                </a:solidFill>
              </a:rPr>
              <a:t>.</a:t>
            </a:r>
          </a:p>
          <a:p>
            <a:endParaRPr lang="en-US" sz="1400" dirty="0"/>
          </a:p>
          <a:p>
            <a:r>
              <a:rPr lang="en-US" sz="1400" dirty="0">
                <a:solidFill>
                  <a:srgbClr val="171A1F"/>
                </a:solidFill>
              </a:rPr>
              <a:t>Prix négatifs sont transformés en valeur </a:t>
            </a:r>
            <a:r>
              <a:rPr lang="en-US" sz="1400" dirty="0" err="1">
                <a:solidFill>
                  <a:srgbClr val="171A1F"/>
                </a:solidFill>
              </a:rPr>
              <a:t>absolue</a:t>
            </a:r>
            <a:r>
              <a:rPr lang="en-US" sz="1400" dirty="0">
                <a:solidFill>
                  <a:srgbClr val="171A1F"/>
                </a:solidFill>
              </a:rPr>
              <a:t>.</a:t>
            </a:r>
          </a:p>
          <a:p>
            <a:endParaRPr lang="en-US" sz="1400" dirty="0"/>
          </a:p>
          <a:p>
            <a:r>
              <a:rPr lang="fr-FR" sz="1400" dirty="0"/>
              <a:t>Trois prix négatifs et deux stocks négatifs ont été détectés. Ces valeurs ont été signalées comme anomalies et ont fait l’objet d’hypothèses de traitement pour permettre l’analyse. Elles doivent être validées par les équipes métier avant toute correction définitive dans l’ERP.</a:t>
            </a:r>
          </a:p>
          <a:p>
            <a:endParaRPr lang="fr-FR" sz="1400" dirty="0"/>
          </a:p>
          <a:p>
            <a:r>
              <a:rPr lang="en-US" sz="1400" dirty="0">
                <a:solidFill>
                  <a:srgbClr val="171A1F"/>
                </a:solidFill>
              </a:rPr>
              <a:t>Après correction, stock minimum  0 et prix minimum 5,20 €.</a:t>
            </a:r>
            <a:endParaRPr lang="en-US" sz="1400" dirty="0"/>
          </a:p>
        </p:txBody>
      </p:sp>
      <p:sp>
        <p:nvSpPr>
          <p:cNvPr id="9" name="Text 6"/>
          <p:cNvSpPr/>
          <p:nvPr/>
        </p:nvSpPr>
        <p:spPr>
          <a:xfrm>
            <a:off x="6583680" y="6419088"/>
            <a:ext cx="4206240" cy="201168"/>
          </a:xfrm>
          <a:prstGeom prst="rect">
            <a:avLst/>
          </a:prstGeom>
          <a:noFill/>
          <a:ln/>
        </p:spPr>
        <p:txBody>
          <a:bodyPr wrap="square" lIns="0" tIns="0" rIns="0" bIns="0" rtlCol="0" anchor="ctr"/>
          <a:lstStyle/>
          <a:p>
            <a:pPr marL="0" indent="0" algn="r">
              <a:buNone/>
            </a:pPr>
            <a:r>
              <a:rPr lang="en-US" sz="650" dirty="0">
                <a:solidFill>
                  <a:srgbClr val="655F57"/>
                </a:solidFill>
                <a:latin typeface="Aptos" pitchFamily="34" charset="0"/>
                <a:ea typeface="Aptos" pitchFamily="34" charset="-122"/>
                <a:cs typeface="Aptos" pitchFamily="34" charset="-120"/>
              </a:rPr>
              <a:t>Source : notebook Bottleneck, contrôles ERP</a:t>
            </a:r>
            <a:endParaRPr lang="en-US" sz="65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6</a:t>
            </a:fld>
            <a:endParaRPr lang="en-US"/>
          </a:p>
        </p:txBody>
      </p:sp>
      <p:pic>
        <p:nvPicPr>
          <p:cNvPr id="11" name="Image 10">
            <a:extLst>
              <a:ext uri="{FF2B5EF4-FFF2-40B4-BE49-F238E27FC236}">
                <a16:creationId xmlns:a16="http://schemas.microsoft.com/office/drawing/2014/main" id="{BC5E1761-48D2-BCBB-E388-D1D836227E37}"/>
              </a:ext>
            </a:extLst>
          </p:cNvPr>
          <p:cNvPicPr>
            <a:picLocks noChangeAspect="1"/>
          </p:cNvPicPr>
          <p:nvPr/>
        </p:nvPicPr>
        <p:blipFill>
          <a:blip r:embed="rId3"/>
          <a:stretch>
            <a:fillRect/>
          </a:stretch>
        </p:blipFill>
        <p:spPr>
          <a:xfrm>
            <a:off x="10550106" y="16074"/>
            <a:ext cx="1640152" cy="11934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NETTOYAGE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Qualité des données web et liaison</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768096" y="1554480"/>
            <a:ext cx="2075688" cy="484632"/>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Contrôle</a:t>
            </a:r>
            <a:endParaRPr lang="en-US" sz="1100" dirty="0"/>
          </a:p>
        </p:txBody>
      </p:sp>
      <p:sp>
        <p:nvSpPr>
          <p:cNvPr id="6" name="Text 4"/>
          <p:cNvSpPr/>
          <p:nvPr/>
        </p:nvSpPr>
        <p:spPr>
          <a:xfrm>
            <a:off x="2916936" y="1554480"/>
            <a:ext cx="3950208" cy="484632"/>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Résultat</a:t>
            </a:r>
            <a:endParaRPr lang="en-US" sz="1100" dirty="0"/>
          </a:p>
        </p:txBody>
      </p:sp>
      <p:sp>
        <p:nvSpPr>
          <p:cNvPr id="7" name="Text 5"/>
          <p:cNvSpPr/>
          <p:nvPr/>
        </p:nvSpPr>
        <p:spPr>
          <a:xfrm>
            <a:off x="6940296" y="1554480"/>
            <a:ext cx="4544568" cy="484632"/>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Décision</a:t>
            </a:r>
            <a:endParaRPr lang="en-US" sz="1100" dirty="0"/>
          </a:p>
        </p:txBody>
      </p:sp>
      <p:sp>
        <p:nvSpPr>
          <p:cNvPr id="8" name="Shape 6"/>
          <p:cNvSpPr/>
          <p:nvPr/>
        </p:nvSpPr>
        <p:spPr>
          <a:xfrm>
            <a:off x="731520" y="2066544"/>
            <a:ext cx="10789920" cy="0"/>
          </a:xfrm>
          <a:prstGeom prst="line">
            <a:avLst/>
          </a:prstGeom>
          <a:noFill/>
          <a:ln w="13970">
            <a:solidFill>
              <a:srgbClr val="1E2A36"/>
            </a:solidFill>
            <a:prstDash val="solid"/>
          </a:ln>
        </p:spPr>
        <p:txBody>
          <a:bodyPr/>
          <a:lstStyle/>
          <a:p>
            <a:endParaRPr lang="fr-FR"/>
          </a:p>
        </p:txBody>
      </p:sp>
      <p:sp>
        <p:nvSpPr>
          <p:cNvPr id="9" name="Text 7"/>
          <p:cNvSpPr/>
          <p:nvPr/>
        </p:nvSpPr>
        <p:spPr>
          <a:xfrm>
            <a:off x="768096" y="2112264"/>
            <a:ext cx="207568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post_type</a:t>
            </a:r>
            <a:endParaRPr lang="en-US" sz="1100" dirty="0"/>
          </a:p>
        </p:txBody>
      </p:sp>
      <p:sp>
        <p:nvSpPr>
          <p:cNvPr id="10" name="Text 8"/>
          <p:cNvSpPr/>
          <p:nvPr/>
        </p:nvSpPr>
        <p:spPr>
          <a:xfrm>
            <a:off x="2916936" y="2112264"/>
            <a:ext cx="395020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716 produits, 714 attachments, 83 vides</a:t>
            </a:r>
            <a:endParaRPr lang="en-US" sz="1100" dirty="0"/>
          </a:p>
        </p:txBody>
      </p:sp>
      <p:sp>
        <p:nvSpPr>
          <p:cNvPr id="11" name="Text 9"/>
          <p:cNvSpPr/>
          <p:nvPr/>
        </p:nvSpPr>
        <p:spPr>
          <a:xfrm>
            <a:off x="6940296" y="2112264"/>
            <a:ext cx="454456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Conserver uniquement product</a:t>
            </a:r>
            <a:endParaRPr lang="en-US" sz="1100" dirty="0"/>
          </a:p>
        </p:txBody>
      </p:sp>
      <p:sp>
        <p:nvSpPr>
          <p:cNvPr id="12" name="Shape 10"/>
          <p:cNvSpPr/>
          <p:nvPr/>
        </p:nvSpPr>
        <p:spPr>
          <a:xfrm>
            <a:off x="731520" y="2624328"/>
            <a:ext cx="10789920" cy="0"/>
          </a:xfrm>
          <a:prstGeom prst="line">
            <a:avLst/>
          </a:prstGeom>
          <a:noFill/>
          <a:ln w="6350">
            <a:solidFill>
              <a:srgbClr val="D8D2C5"/>
            </a:solidFill>
            <a:prstDash val="solid"/>
          </a:ln>
        </p:spPr>
        <p:txBody>
          <a:bodyPr/>
          <a:lstStyle/>
          <a:p>
            <a:endParaRPr lang="fr-FR"/>
          </a:p>
        </p:txBody>
      </p:sp>
      <p:sp>
        <p:nvSpPr>
          <p:cNvPr id="13" name="Text 11"/>
          <p:cNvSpPr/>
          <p:nvPr/>
        </p:nvSpPr>
        <p:spPr>
          <a:xfrm>
            <a:off x="768096" y="2670048"/>
            <a:ext cx="207568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SKU manquant</a:t>
            </a:r>
            <a:endParaRPr lang="en-US" sz="1100" dirty="0"/>
          </a:p>
        </p:txBody>
      </p:sp>
      <p:sp>
        <p:nvSpPr>
          <p:cNvPr id="14" name="Text 12"/>
          <p:cNvSpPr/>
          <p:nvPr/>
        </p:nvSpPr>
        <p:spPr>
          <a:xfrm>
            <a:off x="2916936" y="2670048"/>
            <a:ext cx="395020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2 produits sans SKU après filtrage</a:t>
            </a:r>
            <a:endParaRPr lang="en-US" sz="1100" dirty="0"/>
          </a:p>
        </p:txBody>
      </p:sp>
      <p:sp>
        <p:nvSpPr>
          <p:cNvPr id="15" name="Text 13"/>
          <p:cNvSpPr/>
          <p:nvPr/>
        </p:nvSpPr>
        <p:spPr>
          <a:xfrm>
            <a:off x="6940296" y="2670048"/>
            <a:ext cx="454456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Exclure de la jointure</a:t>
            </a:r>
            <a:endParaRPr lang="en-US" sz="1100" dirty="0"/>
          </a:p>
        </p:txBody>
      </p:sp>
      <p:sp>
        <p:nvSpPr>
          <p:cNvPr id="16" name="Shape 14"/>
          <p:cNvSpPr/>
          <p:nvPr/>
        </p:nvSpPr>
        <p:spPr>
          <a:xfrm>
            <a:off x="731520" y="3182112"/>
            <a:ext cx="10789920" cy="0"/>
          </a:xfrm>
          <a:prstGeom prst="line">
            <a:avLst/>
          </a:prstGeom>
          <a:noFill/>
          <a:ln w="6350">
            <a:solidFill>
              <a:srgbClr val="D8D2C5"/>
            </a:solidFill>
            <a:prstDash val="solid"/>
          </a:ln>
        </p:spPr>
        <p:txBody>
          <a:bodyPr/>
          <a:lstStyle/>
          <a:p>
            <a:endParaRPr lang="fr-FR"/>
          </a:p>
        </p:txBody>
      </p:sp>
      <p:sp>
        <p:nvSpPr>
          <p:cNvPr id="17" name="Text 15"/>
          <p:cNvSpPr/>
          <p:nvPr/>
        </p:nvSpPr>
        <p:spPr>
          <a:xfrm>
            <a:off x="768096" y="3227832"/>
            <a:ext cx="207568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SKU atypiques</a:t>
            </a:r>
            <a:endParaRPr lang="en-US" sz="1100" dirty="0"/>
          </a:p>
        </p:txBody>
      </p:sp>
      <p:sp>
        <p:nvSpPr>
          <p:cNvPr id="18" name="Text 16"/>
          <p:cNvSpPr/>
          <p:nvPr/>
        </p:nvSpPr>
        <p:spPr>
          <a:xfrm>
            <a:off x="2916936" y="3227832"/>
            <a:ext cx="395020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13127-1 et bon-cadeau-25-euros</a:t>
            </a:r>
            <a:endParaRPr lang="en-US" sz="1100" dirty="0"/>
          </a:p>
        </p:txBody>
      </p:sp>
      <p:sp>
        <p:nvSpPr>
          <p:cNvPr id="19" name="Text 17"/>
          <p:cNvSpPr/>
          <p:nvPr/>
        </p:nvSpPr>
        <p:spPr>
          <a:xfrm>
            <a:off x="6940296" y="3227832"/>
            <a:ext cx="454456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Conserver mais surveiller</a:t>
            </a:r>
            <a:endParaRPr lang="en-US" sz="1100" dirty="0"/>
          </a:p>
        </p:txBody>
      </p:sp>
      <p:sp>
        <p:nvSpPr>
          <p:cNvPr id="20" name="Shape 18"/>
          <p:cNvSpPr/>
          <p:nvPr/>
        </p:nvSpPr>
        <p:spPr>
          <a:xfrm>
            <a:off x="731520" y="3739896"/>
            <a:ext cx="10789920" cy="0"/>
          </a:xfrm>
          <a:prstGeom prst="line">
            <a:avLst/>
          </a:prstGeom>
          <a:noFill/>
          <a:ln w="6350">
            <a:solidFill>
              <a:srgbClr val="D8D2C5"/>
            </a:solidFill>
            <a:prstDash val="solid"/>
          </a:ln>
        </p:spPr>
        <p:txBody>
          <a:bodyPr/>
          <a:lstStyle/>
          <a:p>
            <a:endParaRPr lang="fr-FR"/>
          </a:p>
        </p:txBody>
      </p:sp>
      <p:sp>
        <p:nvSpPr>
          <p:cNvPr id="21" name="Text 19"/>
          <p:cNvSpPr/>
          <p:nvPr/>
        </p:nvSpPr>
        <p:spPr>
          <a:xfrm>
            <a:off x="768096" y="3785616"/>
            <a:ext cx="207568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liaison id_web</a:t>
            </a:r>
            <a:endParaRPr lang="en-US" sz="1100" dirty="0"/>
          </a:p>
        </p:txBody>
      </p:sp>
      <p:sp>
        <p:nvSpPr>
          <p:cNvPr id="22" name="Text 20"/>
          <p:cNvSpPr/>
          <p:nvPr/>
        </p:nvSpPr>
        <p:spPr>
          <a:xfrm>
            <a:off x="2916936" y="3785616"/>
            <a:ext cx="395020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91 valeurs manquantes</a:t>
            </a:r>
            <a:endParaRPr lang="en-US" sz="1100" dirty="0"/>
          </a:p>
        </p:txBody>
      </p:sp>
      <p:sp>
        <p:nvSpPr>
          <p:cNvPr id="23" name="Text 21"/>
          <p:cNvSpPr/>
          <p:nvPr/>
        </p:nvSpPr>
        <p:spPr>
          <a:xfrm>
            <a:off x="6940296" y="3785616"/>
            <a:ext cx="4544568" cy="484632"/>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Identifier les produits non rapprochables</a:t>
            </a:r>
            <a:endParaRPr lang="en-US" sz="1100" dirty="0"/>
          </a:p>
        </p:txBody>
      </p:sp>
      <p:sp>
        <p:nvSpPr>
          <p:cNvPr id="24" name="Shape 22"/>
          <p:cNvSpPr/>
          <p:nvPr/>
        </p:nvSpPr>
        <p:spPr>
          <a:xfrm>
            <a:off x="731520" y="4297680"/>
            <a:ext cx="10789920" cy="0"/>
          </a:xfrm>
          <a:prstGeom prst="line">
            <a:avLst/>
          </a:prstGeom>
          <a:noFill/>
          <a:ln w="6350">
            <a:solidFill>
              <a:srgbClr val="D8D2C5"/>
            </a:solidFill>
            <a:prstDash val="solid"/>
          </a:ln>
        </p:spPr>
        <p:txBody>
          <a:bodyPr/>
          <a:lstStyle/>
          <a:p>
            <a:endParaRPr lang="fr-FR"/>
          </a:p>
        </p:txBody>
      </p:sp>
      <p:sp>
        <p:nvSpPr>
          <p:cNvPr id="25" name="Text 23"/>
          <p:cNvSpPr/>
          <p:nvPr/>
        </p:nvSpPr>
        <p:spPr>
          <a:xfrm>
            <a:off x="978408" y="5565267"/>
            <a:ext cx="10149840" cy="384048"/>
          </a:xfrm>
          <a:prstGeom prst="rect">
            <a:avLst/>
          </a:prstGeom>
          <a:noFill/>
          <a:ln/>
        </p:spPr>
        <p:txBody>
          <a:bodyPr wrap="square" lIns="381" tIns="381" rIns="381" bIns="381" rtlCol="0" anchor="t">
            <a:normAutofit/>
          </a:bodyPr>
          <a:lstStyle/>
          <a:p>
            <a:pPr marL="0" indent="0">
              <a:buNone/>
            </a:pPr>
            <a:r>
              <a:rPr lang="en-US" sz="1900" b="1" dirty="0">
                <a:solidFill>
                  <a:srgbClr val="1E2A36"/>
                </a:solidFill>
              </a:rPr>
              <a:t>Point </a:t>
            </a:r>
            <a:r>
              <a:rPr lang="en-US" sz="1900" b="1" dirty="0" err="1">
                <a:solidFill>
                  <a:srgbClr val="1E2A36"/>
                </a:solidFill>
              </a:rPr>
              <a:t>clé</a:t>
            </a:r>
            <a:r>
              <a:rPr lang="en-US" sz="1900" b="1" dirty="0">
                <a:solidFill>
                  <a:srgbClr val="1E2A36"/>
                </a:solidFill>
              </a:rPr>
              <a:t> : SKU indispensable pour relier le catalogue web aux produits ERP.</a:t>
            </a:r>
            <a:endParaRPr lang="en-US" sz="1900" dirty="0"/>
          </a:p>
        </p:txBody>
      </p:sp>
      <p:sp>
        <p:nvSpPr>
          <p:cNvPr id="26"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7</a:t>
            </a:fld>
            <a:endParaRPr lang="en-US"/>
          </a:p>
        </p:txBody>
      </p:sp>
      <p:pic>
        <p:nvPicPr>
          <p:cNvPr id="28" name="Image 27">
            <a:extLst>
              <a:ext uri="{FF2B5EF4-FFF2-40B4-BE49-F238E27FC236}">
                <a16:creationId xmlns:a16="http://schemas.microsoft.com/office/drawing/2014/main" id="{C88F2704-D223-AA4A-2478-083A81E2EE12}"/>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JOINTURES</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Consolidation : de 825 produits ERP à 714 produits analysables</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graphicFrame>
        <p:nvGraphicFramePr>
          <p:cNvPr id="5" name="Chart 0"/>
          <p:cNvGraphicFramePr/>
          <p:nvPr/>
        </p:nvGraphicFramePr>
        <p:xfrm>
          <a:off x="868680" y="1508760"/>
          <a:ext cx="5486400" cy="301752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3"/>
          <p:cNvSpPr/>
          <p:nvPr/>
        </p:nvSpPr>
        <p:spPr>
          <a:xfrm>
            <a:off x="6675120" y="1691640"/>
            <a:ext cx="3291840" cy="502920"/>
          </a:xfrm>
          <a:prstGeom prst="rect">
            <a:avLst/>
          </a:prstGeom>
          <a:noFill/>
          <a:ln/>
        </p:spPr>
        <p:txBody>
          <a:bodyPr wrap="square" lIns="0" tIns="0" rIns="0" bIns="0" rtlCol="0" anchor="ctr">
            <a:normAutofit/>
          </a:bodyPr>
          <a:lstStyle/>
          <a:p>
            <a:pPr marL="0" indent="0">
              <a:buNone/>
            </a:pPr>
            <a:r>
              <a:rPr lang="en-US" sz="2800" b="1" dirty="0">
                <a:solidFill>
                  <a:srgbClr val="33A5B6"/>
                </a:solidFill>
              </a:rPr>
              <a:t>714</a:t>
            </a:r>
            <a:endParaRPr lang="en-US" sz="2800" dirty="0"/>
          </a:p>
        </p:txBody>
      </p:sp>
      <p:sp>
        <p:nvSpPr>
          <p:cNvPr id="7" name="Text 4"/>
          <p:cNvSpPr/>
          <p:nvPr/>
        </p:nvSpPr>
        <p:spPr>
          <a:xfrm>
            <a:off x="6675120" y="2221992"/>
            <a:ext cx="329184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produits conservés pour l’analyse des ventes</a:t>
            </a:r>
            <a:endParaRPr lang="en-US" sz="1100" dirty="0"/>
          </a:p>
        </p:txBody>
      </p:sp>
      <p:sp>
        <p:nvSpPr>
          <p:cNvPr id="8" name="Text 5"/>
          <p:cNvSpPr/>
          <p:nvPr/>
        </p:nvSpPr>
        <p:spPr>
          <a:xfrm>
            <a:off x="6675120" y="2880360"/>
            <a:ext cx="3291840" cy="502920"/>
          </a:xfrm>
          <a:prstGeom prst="rect">
            <a:avLst/>
          </a:prstGeom>
          <a:noFill/>
          <a:ln/>
        </p:spPr>
        <p:txBody>
          <a:bodyPr wrap="square" lIns="0" tIns="0" rIns="0" bIns="0" rtlCol="0" anchor="ctr">
            <a:normAutofit/>
          </a:bodyPr>
          <a:lstStyle/>
          <a:p>
            <a:pPr marL="0" indent="0">
              <a:buNone/>
            </a:pPr>
            <a:r>
              <a:rPr lang="en-US" sz="2800" b="1" dirty="0">
                <a:solidFill>
                  <a:srgbClr val="B88735"/>
                </a:solidFill>
              </a:rPr>
              <a:t>111</a:t>
            </a:r>
            <a:endParaRPr lang="en-US" sz="2800" dirty="0"/>
          </a:p>
        </p:txBody>
      </p:sp>
      <p:sp>
        <p:nvSpPr>
          <p:cNvPr id="9" name="Text 6"/>
          <p:cNvSpPr/>
          <p:nvPr/>
        </p:nvSpPr>
        <p:spPr>
          <a:xfrm>
            <a:off x="6675120" y="3410712"/>
            <a:ext cx="329184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produits sans correspondance web</a:t>
            </a:r>
            <a:endParaRPr lang="en-US" sz="1100" dirty="0"/>
          </a:p>
        </p:txBody>
      </p:sp>
      <p:sp>
        <p:nvSpPr>
          <p:cNvPr id="10" name="Text 7"/>
          <p:cNvSpPr/>
          <p:nvPr/>
        </p:nvSpPr>
        <p:spPr>
          <a:xfrm>
            <a:off x="6675120" y="4069080"/>
            <a:ext cx="4023360" cy="502920"/>
          </a:xfrm>
          <a:prstGeom prst="rect">
            <a:avLst/>
          </a:prstGeom>
          <a:noFill/>
          <a:ln/>
        </p:spPr>
        <p:txBody>
          <a:bodyPr wrap="square" lIns="0" tIns="0" rIns="0" bIns="0" rtlCol="0" anchor="ctr">
            <a:normAutofit/>
          </a:bodyPr>
          <a:lstStyle/>
          <a:p>
            <a:pPr marL="0" indent="0">
              <a:buNone/>
            </a:pPr>
            <a:r>
              <a:rPr lang="en-US" sz="2800" b="1" dirty="0">
                <a:solidFill>
                  <a:srgbClr val="B9473D"/>
                </a:solidFill>
              </a:rPr>
              <a:t>3</a:t>
            </a:r>
            <a:endParaRPr lang="en-US" sz="2800" dirty="0"/>
          </a:p>
        </p:txBody>
      </p:sp>
      <p:sp>
        <p:nvSpPr>
          <p:cNvPr id="11" name="Text 8"/>
          <p:cNvSpPr/>
          <p:nvPr/>
        </p:nvSpPr>
        <p:spPr>
          <a:xfrm>
            <a:off x="6675120" y="4599432"/>
            <a:ext cx="402336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produits sans correspondance mais indiqués vendus en ligne</a:t>
            </a:r>
            <a:endParaRPr lang="en-US" sz="1100" dirty="0"/>
          </a:p>
        </p:txBody>
      </p:sp>
      <p:sp>
        <p:nvSpPr>
          <p:cNvPr id="12" name="Text 9"/>
          <p:cNvSpPr/>
          <p:nvPr/>
        </p:nvSpPr>
        <p:spPr>
          <a:xfrm>
            <a:off x="868680" y="5794786"/>
            <a:ext cx="10241280" cy="411480"/>
          </a:xfrm>
          <a:prstGeom prst="rect">
            <a:avLst/>
          </a:prstGeom>
          <a:noFill/>
          <a:ln/>
        </p:spPr>
        <p:txBody>
          <a:bodyPr wrap="square" lIns="381" tIns="381" rIns="381" bIns="381" rtlCol="0" anchor="t">
            <a:normAutofit fontScale="92500"/>
          </a:bodyPr>
          <a:lstStyle/>
          <a:p>
            <a:pPr marL="0" indent="0">
              <a:buNone/>
            </a:pPr>
            <a:r>
              <a:rPr lang="en-US" sz="1700" b="1" dirty="0">
                <a:solidFill>
                  <a:srgbClr val="1E2A36"/>
                </a:solidFill>
              </a:rPr>
              <a:t>Décision : les analyses commerciales s’appuient sur les 714 produits dont la correspondance web est fiable.</a:t>
            </a:r>
            <a:endParaRPr lang="en-US" sz="17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8</a:t>
            </a:fld>
            <a:endParaRPr lang="en-US"/>
          </a:p>
        </p:txBody>
      </p:sp>
      <p:pic>
        <p:nvPicPr>
          <p:cNvPr id="14" name="Image 13">
            <a:extLst>
              <a:ext uri="{FF2B5EF4-FFF2-40B4-BE49-F238E27FC236}">
                <a16:creationId xmlns:a16="http://schemas.microsoft.com/office/drawing/2014/main" id="{7289FDB9-F35C-986D-AC62-C27F09967E1D}"/>
              </a:ext>
            </a:extLst>
          </p:cNvPr>
          <p:cNvPicPr>
            <a:picLocks noChangeAspect="1"/>
          </p:cNvPicPr>
          <p:nvPr/>
        </p:nvPicPr>
        <p:blipFill>
          <a:blip r:embed="rId3"/>
          <a:stretch>
            <a:fillRect/>
          </a:stretch>
        </p:blipFill>
        <p:spPr>
          <a:xfrm>
            <a:off x="10550106" y="16074"/>
            <a:ext cx="1640152" cy="11934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Analyse des prix : dispersion et outliers</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2320506" y="2509959"/>
            <a:ext cx="1828800" cy="502920"/>
          </a:xfrm>
          <a:prstGeom prst="rect">
            <a:avLst/>
          </a:prstGeom>
          <a:noFill/>
          <a:ln/>
        </p:spPr>
        <p:txBody>
          <a:bodyPr wrap="square" lIns="0" tIns="0" rIns="0" bIns="0" rtlCol="0" anchor="ctr">
            <a:normAutofit/>
          </a:bodyPr>
          <a:lstStyle/>
          <a:p>
            <a:pPr marL="0" indent="0">
              <a:buNone/>
            </a:pPr>
            <a:r>
              <a:rPr lang="en-US" sz="2800" b="1" dirty="0">
                <a:solidFill>
                  <a:srgbClr val="1E2A36"/>
                </a:solidFill>
              </a:rPr>
              <a:t>32,28 €</a:t>
            </a:r>
            <a:endParaRPr lang="en-US" sz="2800" dirty="0"/>
          </a:p>
        </p:txBody>
      </p:sp>
      <p:sp>
        <p:nvSpPr>
          <p:cNvPr id="6" name="Text 4"/>
          <p:cNvSpPr/>
          <p:nvPr/>
        </p:nvSpPr>
        <p:spPr>
          <a:xfrm>
            <a:off x="2320506" y="3040311"/>
            <a:ext cx="18288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prix moyen</a:t>
            </a:r>
            <a:endParaRPr lang="en-US" sz="1100" dirty="0"/>
          </a:p>
        </p:txBody>
      </p:sp>
      <p:sp>
        <p:nvSpPr>
          <p:cNvPr id="7" name="Text 5"/>
          <p:cNvSpPr/>
          <p:nvPr/>
        </p:nvSpPr>
        <p:spPr>
          <a:xfrm>
            <a:off x="4377906" y="2509959"/>
            <a:ext cx="1828800" cy="502920"/>
          </a:xfrm>
          <a:prstGeom prst="rect">
            <a:avLst/>
          </a:prstGeom>
          <a:noFill/>
          <a:ln/>
        </p:spPr>
        <p:txBody>
          <a:bodyPr wrap="square" lIns="0" tIns="0" rIns="0" bIns="0" rtlCol="0" anchor="ctr">
            <a:normAutofit/>
          </a:bodyPr>
          <a:lstStyle/>
          <a:p>
            <a:pPr marL="0" indent="0">
              <a:buNone/>
            </a:pPr>
            <a:r>
              <a:rPr lang="en-US" sz="2800" b="1" dirty="0">
                <a:solidFill>
                  <a:srgbClr val="FF7200"/>
                </a:solidFill>
              </a:rPr>
              <a:t>225 €</a:t>
            </a:r>
            <a:endParaRPr lang="en-US" sz="2800" dirty="0"/>
          </a:p>
        </p:txBody>
      </p:sp>
      <p:sp>
        <p:nvSpPr>
          <p:cNvPr id="8" name="Text 6"/>
          <p:cNvSpPr/>
          <p:nvPr/>
        </p:nvSpPr>
        <p:spPr>
          <a:xfrm>
            <a:off x="4377906" y="3040311"/>
            <a:ext cx="18288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prix maximum</a:t>
            </a:r>
            <a:endParaRPr lang="en-US" sz="1100" dirty="0"/>
          </a:p>
        </p:txBody>
      </p:sp>
      <p:sp>
        <p:nvSpPr>
          <p:cNvPr id="9" name="Text 7"/>
          <p:cNvSpPr/>
          <p:nvPr/>
        </p:nvSpPr>
        <p:spPr>
          <a:xfrm>
            <a:off x="6343866" y="2509959"/>
            <a:ext cx="1828800" cy="502920"/>
          </a:xfrm>
          <a:prstGeom prst="rect">
            <a:avLst/>
          </a:prstGeom>
          <a:noFill/>
          <a:ln/>
        </p:spPr>
        <p:txBody>
          <a:bodyPr wrap="square" lIns="0" tIns="0" rIns="0" bIns="0" rtlCol="0" anchor="ctr">
            <a:normAutofit/>
          </a:bodyPr>
          <a:lstStyle/>
          <a:p>
            <a:pPr marL="0" indent="0">
              <a:buNone/>
            </a:pPr>
            <a:r>
              <a:rPr lang="en-US" sz="2800" b="1" dirty="0">
                <a:solidFill>
                  <a:srgbClr val="B88735"/>
                </a:solidFill>
              </a:rPr>
              <a:t>36</a:t>
            </a:r>
            <a:endParaRPr lang="en-US" sz="2800" dirty="0"/>
          </a:p>
        </p:txBody>
      </p:sp>
      <p:sp>
        <p:nvSpPr>
          <p:cNvPr id="10" name="Text 8"/>
          <p:cNvSpPr/>
          <p:nvPr/>
        </p:nvSpPr>
        <p:spPr>
          <a:xfrm>
            <a:off x="6343866" y="3040311"/>
            <a:ext cx="18288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outliers IQR</a:t>
            </a:r>
            <a:endParaRPr lang="en-US" sz="1100" dirty="0"/>
          </a:p>
        </p:txBody>
      </p:sp>
      <p:sp>
        <p:nvSpPr>
          <p:cNvPr id="11" name="Text 9"/>
          <p:cNvSpPr/>
          <p:nvPr/>
        </p:nvSpPr>
        <p:spPr>
          <a:xfrm>
            <a:off x="8355546" y="2509959"/>
            <a:ext cx="2194560" cy="502920"/>
          </a:xfrm>
          <a:prstGeom prst="rect">
            <a:avLst/>
          </a:prstGeom>
          <a:noFill/>
          <a:ln/>
        </p:spPr>
        <p:txBody>
          <a:bodyPr wrap="square" lIns="0" tIns="0" rIns="0" bIns="0" rtlCol="0" anchor="ctr">
            <a:normAutofit/>
          </a:bodyPr>
          <a:lstStyle/>
          <a:p>
            <a:pPr marL="0" indent="0">
              <a:buNone/>
            </a:pPr>
            <a:r>
              <a:rPr lang="en-US" sz="2800" b="1" dirty="0">
                <a:solidFill>
                  <a:srgbClr val="B9473D"/>
                </a:solidFill>
              </a:rPr>
              <a:t>17</a:t>
            </a:r>
            <a:endParaRPr lang="en-US" sz="2800" dirty="0"/>
          </a:p>
        </p:txBody>
      </p:sp>
      <p:sp>
        <p:nvSpPr>
          <p:cNvPr id="12" name="Text 10"/>
          <p:cNvSpPr/>
          <p:nvPr/>
        </p:nvSpPr>
        <p:spPr>
          <a:xfrm>
            <a:off x="8355546" y="3040311"/>
            <a:ext cx="219456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outliers Z-score &gt; 3</a:t>
            </a:r>
            <a:endParaRPr lang="en-US" sz="1100" dirty="0"/>
          </a:p>
        </p:txBody>
      </p:sp>
      <p:sp>
        <p:nvSpPr>
          <p:cNvPr id="13" name="Text 11"/>
          <p:cNvSpPr/>
          <p:nvPr/>
        </p:nvSpPr>
        <p:spPr>
          <a:xfrm>
            <a:off x="868680" y="4125511"/>
            <a:ext cx="5120640" cy="228600"/>
          </a:xfrm>
          <a:prstGeom prst="rect">
            <a:avLst/>
          </a:prstGeom>
          <a:noFill/>
          <a:ln/>
        </p:spPr>
        <p:txBody>
          <a:bodyPr wrap="square" lIns="0" tIns="0" rIns="0" bIns="0" rtlCol="0" anchor="ctr"/>
          <a:lstStyle/>
          <a:p>
            <a:pPr marL="0" indent="0">
              <a:buNone/>
            </a:pPr>
            <a:r>
              <a:rPr lang="en-US" sz="1000" b="1" dirty="0">
                <a:solidFill>
                  <a:srgbClr val="33A5B6"/>
                </a:solidFill>
              </a:rPr>
              <a:t>INTERPRÉTATION MÉTIER</a:t>
            </a:r>
            <a:endParaRPr lang="en-US" sz="1000" dirty="0"/>
          </a:p>
        </p:txBody>
      </p:sp>
      <p:sp>
        <p:nvSpPr>
          <p:cNvPr id="14" name="Shape 12"/>
          <p:cNvSpPr/>
          <p:nvPr/>
        </p:nvSpPr>
        <p:spPr>
          <a:xfrm>
            <a:off x="845820" y="4419733"/>
            <a:ext cx="5120640" cy="0"/>
          </a:xfrm>
          <a:prstGeom prst="line">
            <a:avLst/>
          </a:prstGeom>
          <a:noFill/>
          <a:ln w="15240">
            <a:solidFill>
              <a:srgbClr val="33A5B6"/>
            </a:solidFill>
            <a:prstDash val="solid"/>
          </a:ln>
        </p:spPr>
        <p:txBody>
          <a:bodyPr/>
          <a:lstStyle/>
          <a:p>
            <a:endParaRPr lang="fr-FR" dirty="0"/>
          </a:p>
        </p:txBody>
      </p:sp>
      <p:sp>
        <p:nvSpPr>
          <p:cNvPr id="15" name="Text 13"/>
          <p:cNvSpPr/>
          <p:nvPr/>
        </p:nvSpPr>
        <p:spPr>
          <a:xfrm>
            <a:off x="868680" y="4978413"/>
            <a:ext cx="10058400" cy="1600200"/>
          </a:xfrm>
          <a:prstGeom prst="rect">
            <a:avLst/>
          </a:prstGeom>
          <a:noFill/>
          <a:ln/>
        </p:spPr>
        <p:txBody>
          <a:bodyPr wrap="square" lIns="635" tIns="635" rIns="635" bIns="635" rtlCol="0" anchor="t">
            <a:normAutofit/>
          </a:bodyPr>
          <a:lstStyle/>
          <a:p>
            <a:r>
              <a:rPr lang="en-US" sz="1500" dirty="0">
                <a:solidFill>
                  <a:srgbClr val="171A1F"/>
                </a:solidFill>
              </a:rPr>
              <a:t>Les prix élevés correspondent souvent à des produits premium : champagnes, cognacs, grands crus, whiskies.</a:t>
            </a:r>
          </a:p>
          <a:p>
            <a:endParaRPr lang="en-US" sz="1500" dirty="0"/>
          </a:p>
          <a:p>
            <a:r>
              <a:rPr lang="en-US" sz="1500" dirty="0">
                <a:solidFill>
                  <a:srgbClr val="171A1F"/>
                </a:solidFill>
              </a:rPr>
              <a:t>Un outlier statistique n’est pas automatiquement une erreur métier.</a:t>
            </a:r>
          </a:p>
          <a:p>
            <a:endParaRPr lang="en-US" sz="1500" dirty="0"/>
          </a:p>
          <a:p>
            <a:r>
              <a:rPr lang="en-US" sz="1500" dirty="0">
                <a:solidFill>
                  <a:srgbClr val="171A1F"/>
                </a:solidFill>
              </a:rPr>
              <a:t>Les produits chers sans correspondance web ou avec marge négative doivent être contrôlés en priorité.</a:t>
            </a:r>
            <a:endParaRPr lang="en-US" sz="15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9</a:t>
            </a:fld>
            <a:endParaRPr lang="en-US"/>
          </a:p>
        </p:txBody>
      </p:sp>
      <p:pic>
        <p:nvPicPr>
          <p:cNvPr id="17" name="Image 16">
            <a:extLst>
              <a:ext uri="{FF2B5EF4-FFF2-40B4-BE49-F238E27FC236}">
                <a16:creationId xmlns:a16="http://schemas.microsoft.com/office/drawing/2014/main" id="{4E7EEEF8-64E5-EA8E-D6B7-F84E140093EF}"/>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Chiffre d’affaires web : 143 680 €</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868680" y="1389888"/>
            <a:ext cx="3840480" cy="320040"/>
          </a:xfrm>
          <a:prstGeom prst="rect">
            <a:avLst/>
          </a:prstGeom>
          <a:noFill/>
          <a:ln/>
        </p:spPr>
        <p:txBody>
          <a:bodyPr wrap="square" lIns="381" tIns="381" rIns="381" bIns="381" rtlCol="0" anchor="t">
            <a:normAutofit/>
          </a:bodyPr>
          <a:lstStyle/>
          <a:p>
            <a:pPr marL="0" indent="0">
              <a:buNone/>
            </a:pPr>
            <a:r>
              <a:rPr lang="en-US" sz="1500" i="1" dirty="0">
                <a:solidFill>
                  <a:srgbClr val="655F57"/>
                </a:solidFill>
              </a:rPr>
              <a:t>CA par article = prix × quantité vendue</a:t>
            </a:r>
            <a:endParaRPr lang="en-US" sz="1500" dirty="0"/>
          </a:p>
        </p:txBody>
      </p:sp>
      <p:sp>
        <p:nvSpPr>
          <p:cNvPr id="6" name="Text 4"/>
          <p:cNvSpPr/>
          <p:nvPr/>
        </p:nvSpPr>
        <p:spPr>
          <a:xfrm>
            <a:off x="868680" y="2449069"/>
            <a:ext cx="4114800" cy="502920"/>
          </a:xfrm>
          <a:prstGeom prst="rect">
            <a:avLst/>
          </a:prstGeom>
          <a:noFill/>
          <a:ln/>
        </p:spPr>
        <p:txBody>
          <a:bodyPr wrap="square" lIns="0" tIns="0" rIns="0" bIns="0" rtlCol="0" anchor="ctr">
            <a:normAutofit/>
          </a:bodyPr>
          <a:lstStyle/>
          <a:p>
            <a:pPr marL="0" indent="0">
              <a:buNone/>
            </a:pPr>
            <a:r>
              <a:rPr lang="en-US" sz="2800" b="1" dirty="0">
                <a:solidFill>
                  <a:srgbClr val="FF7200"/>
                </a:solidFill>
              </a:rPr>
              <a:t>143 680 €</a:t>
            </a:r>
            <a:endParaRPr lang="en-US" sz="2800" dirty="0"/>
          </a:p>
        </p:txBody>
      </p:sp>
      <p:sp>
        <p:nvSpPr>
          <p:cNvPr id="7" name="Text 5"/>
          <p:cNvSpPr/>
          <p:nvPr/>
        </p:nvSpPr>
        <p:spPr>
          <a:xfrm>
            <a:off x="868680" y="3154680"/>
            <a:ext cx="41148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chiffre d’affaires total du site web</a:t>
            </a:r>
            <a:endParaRPr lang="en-US" sz="1100" dirty="0"/>
          </a:p>
        </p:txBody>
      </p:sp>
      <p:graphicFrame>
        <p:nvGraphicFramePr>
          <p:cNvPr id="8" name="Chart 0"/>
          <p:cNvGraphicFramePr/>
          <p:nvPr/>
        </p:nvGraphicFramePr>
        <p:xfrm>
          <a:off x="5120640" y="1417320"/>
          <a:ext cx="6080760" cy="347472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 6"/>
          <p:cNvSpPr/>
          <p:nvPr/>
        </p:nvSpPr>
        <p:spPr>
          <a:xfrm>
            <a:off x="886968" y="5379721"/>
            <a:ext cx="10332720" cy="502920"/>
          </a:xfrm>
          <a:prstGeom prst="rect">
            <a:avLst/>
          </a:prstGeom>
          <a:noFill/>
          <a:ln/>
        </p:spPr>
        <p:txBody>
          <a:bodyPr wrap="square" lIns="381" tIns="381" rIns="381" bIns="381" rtlCol="0" anchor="t">
            <a:normAutofit lnSpcReduction="10000"/>
          </a:bodyPr>
          <a:lstStyle/>
          <a:p>
            <a:pPr marL="0" indent="0">
              <a:buNone/>
            </a:pPr>
            <a:r>
              <a:rPr lang="en-US" sz="1700" b="1" dirty="0">
                <a:solidFill>
                  <a:srgbClr val="1E2A36"/>
                </a:solidFill>
              </a:rPr>
              <a:t>Les meilleurs contributeurs au chiffre d’affaires ne sont pas toujours les plus vendus en volume : le prix unitaire joue un rôle déterminant.</a:t>
            </a:r>
            <a:endParaRPr lang="en-US" sz="17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10</a:t>
            </a:fld>
            <a:endParaRPr lang="en-US"/>
          </a:p>
        </p:txBody>
      </p:sp>
      <p:pic>
        <p:nvPicPr>
          <p:cNvPr id="11" name="Image 10">
            <a:extLst>
              <a:ext uri="{FF2B5EF4-FFF2-40B4-BE49-F238E27FC236}">
                <a16:creationId xmlns:a16="http://schemas.microsoft.com/office/drawing/2014/main" id="{837E9BB9-30D6-C03C-8BD6-264CBD4764EA}"/>
              </a:ext>
            </a:extLst>
          </p:cNvPr>
          <p:cNvPicPr>
            <a:picLocks noChangeAspect="1"/>
          </p:cNvPicPr>
          <p:nvPr/>
        </p:nvPicPr>
        <p:blipFill>
          <a:blip r:embed="rId3"/>
          <a:stretch>
            <a:fillRect/>
          </a:stretch>
        </p:blipFill>
        <p:spPr>
          <a:xfrm>
            <a:off x="10550106" y="16074"/>
            <a:ext cx="1640152" cy="11934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Analyse 20/80 : activité peu concentrée</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914400" y="2314036"/>
            <a:ext cx="4572000" cy="502920"/>
          </a:xfrm>
          <a:prstGeom prst="rect">
            <a:avLst/>
          </a:prstGeom>
          <a:noFill/>
          <a:ln/>
        </p:spPr>
        <p:txBody>
          <a:bodyPr wrap="square" lIns="0" tIns="0" rIns="0" bIns="0" rtlCol="0" anchor="ctr">
            <a:normAutofit/>
          </a:bodyPr>
          <a:lstStyle/>
          <a:p>
            <a:pPr marL="0" indent="0">
              <a:buNone/>
            </a:pPr>
            <a:r>
              <a:rPr lang="en-US" sz="2800" b="1" dirty="0">
                <a:solidFill>
                  <a:srgbClr val="FF7200"/>
                </a:solidFill>
              </a:rPr>
              <a:t>435</a:t>
            </a:r>
            <a:endParaRPr lang="en-US" sz="2800" dirty="0"/>
          </a:p>
        </p:txBody>
      </p:sp>
      <p:sp>
        <p:nvSpPr>
          <p:cNvPr id="6" name="Text 4"/>
          <p:cNvSpPr/>
          <p:nvPr/>
        </p:nvSpPr>
        <p:spPr>
          <a:xfrm>
            <a:off x="914400" y="2844388"/>
            <a:ext cx="45720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articles nécessaires pour atteindre environ 80 % du CA</a:t>
            </a:r>
            <a:endParaRPr lang="en-US" sz="1100" dirty="0"/>
          </a:p>
        </p:txBody>
      </p:sp>
      <p:sp>
        <p:nvSpPr>
          <p:cNvPr id="7" name="Text 5"/>
          <p:cNvSpPr/>
          <p:nvPr/>
        </p:nvSpPr>
        <p:spPr>
          <a:xfrm>
            <a:off x="5760720" y="2314036"/>
            <a:ext cx="3657600" cy="502920"/>
          </a:xfrm>
          <a:prstGeom prst="rect">
            <a:avLst/>
          </a:prstGeom>
          <a:noFill/>
          <a:ln/>
        </p:spPr>
        <p:txBody>
          <a:bodyPr wrap="square" lIns="0" tIns="0" rIns="0" bIns="0" rtlCol="0" anchor="ctr">
            <a:normAutofit/>
          </a:bodyPr>
          <a:lstStyle/>
          <a:p>
            <a:pPr marL="0" indent="0">
              <a:buNone/>
            </a:pPr>
            <a:r>
              <a:rPr lang="en-US" sz="2800" b="1" dirty="0">
                <a:solidFill>
                  <a:srgbClr val="33A5B6"/>
                </a:solidFill>
              </a:rPr>
              <a:t>60,92 %</a:t>
            </a:r>
            <a:endParaRPr lang="en-US" sz="2800" dirty="0"/>
          </a:p>
        </p:txBody>
      </p:sp>
      <p:sp>
        <p:nvSpPr>
          <p:cNvPr id="8" name="Text 6"/>
          <p:cNvSpPr/>
          <p:nvPr/>
        </p:nvSpPr>
        <p:spPr>
          <a:xfrm>
            <a:off x="5760720" y="2844388"/>
            <a:ext cx="36576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du catalogue représenté</a:t>
            </a:r>
            <a:endParaRPr lang="en-US" sz="1100" dirty="0"/>
          </a:p>
        </p:txBody>
      </p:sp>
      <p:sp>
        <p:nvSpPr>
          <p:cNvPr id="9" name="Text 7"/>
          <p:cNvSpPr/>
          <p:nvPr/>
        </p:nvSpPr>
        <p:spPr>
          <a:xfrm>
            <a:off x="868680" y="4041044"/>
            <a:ext cx="10241280" cy="685800"/>
          </a:xfrm>
          <a:prstGeom prst="rect">
            <a:avLst/>
          </a:prstGeom>
          <a:noFill/>
          <a:ln/>
        </p:spPr>
        <p:txBody>
          <a:bodyPr wrap="square" lIns="381" tIns="381" rIns="381" bIns="381" rtlCol="0" anchor="t">
            <a:normAutofit/>
          </a:bodyPr>
          <a:lstStyle/>
          <a:p>
            <a:pPr marL="0" indent="0">
              <a:buNone/>
            </a:pPr>
            <a:r>
              <a:rPr lang="en-US" sz="2000" b="1" dirty="0">
                <a:solidFill>
                  <a:srgbClr val="1E2A36"/>
                </a:solidFill>
              </a:rPr>
              <a:t>Interprétation : le chiffre d’affaires n’est pas porté par une très petite minorité de produits. La performance est relativement répartie dans le catalogue.</a:t>
            </a:r>
            <a:endParaRPr lang="en-US" sz="2000" dirty="0"/>
          </a:p>
        </p:txBody>
      </p:sp>
      <p:sp>
        <p:nvSpPr>
          <p:cNvPr id="10" name="Text 8"/>
          <p:cNvSpPr/>
          <p:nvPr/>
        </p:nvSpPr>
        <p:spPr>
          <a:xfrm>
            <a:off x="914400" y="5046884"/>
            <a:ext cx="10241280" cy="1417320"/>
          </a:xfrm>
          <a:prstGeom prst="rect">
            <a:avLst/>
          </a:prstGeom>
          <a:noFill/>
          <a:ln/>
        </p:spPr>
        <p:txBody>
          <a:bodyPr wrap="square" lIns="635" tIns="635" rIns="635" bIns="635" rtlCol="0" anchor="t">
            <a:normAutofit/>
          </a:bodyPr>
          <a:lstStyle/>
          <a:p>
            <a:r>
              <a:rPr lang="en-US" sz="1500" dirty="0">
                <a:solidFill>
                  <a:srgbClr val="171A1F"/>
                </a:solidFill>
              </a:rPr>
              <a:t>Suivre les produits stratégiques du top CA, mais ne pas négliger la longue </a:t>
            </a:r>
            <a:r>
              <a:rPr lang="en-US" sz="1500" dirty="0" err="1">
                <a:solidFill>
                  <a:srgbClr val="171A1F"/>
                </a:solidFill>
              </a:rPr>
              <a:t>traîne</a:t>
            </a:r>
            <a:r>
              <a:rPr lang="en-US" sz="1500" dirty="0">
                <a:solidFill>
                  <a:srgbClr val="171A1F"/>
                </a:solidFill>
              </a:rPr>
              <a:t>.</a:t>
            </a:r>
          </a:p>
          <a:p>
            <a:endParaRPr lang="en-US" sz="1500" dirty="0"/>
          </a:p>
          <a:p>
            <a:r>
              <a:rPr lang="en-US" sz="1500" dirty="0">
                <a:solidFill>
                  <a:srgbClr val="171A1F"/>
                </a:solidFill>
              </a:rPr>
              <a:t>Analyser les références faibles en CA avec un angle stock et marge.</a:t>
            </a:r>
          </a:p>
          <a:p>
            <a:endParaRPr lang="en-US" sz="1500" dirty="0"/>
          </a:p>
          <a:p>
            <a:r>
              <a:rPr lang="en-US" sz="1500" dirty="0">
                <a:solidFill>
                  <a:srgbClr val="171A1F"/>
                </a:solidFill>
              </a:rPr>
              <a:t>Construire des alertes ERP pour les produits à faible rotation et forte valeur immobilisée.</a:t>
            </a:r>
            <a:endParaRPr lang="en-US" sz="15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11</a:t>
            </a:fld>
            <a:endParaRPr lang="en-US"/>
          </a:p>
        </p:txBody>
      </p:sp>
      <p:pic>
        <p:nvPicPr>
          <p:cNvPr id="12" name="Image 11">
            <a:extLst>
              <a:ext uri="{FF2B5EF4-FFF2-40B4-BE49-F238E27FC236}">
                <a16:creationId xmlns:a16="http://schemas.microsoft.com/office/drawing/2014/main" id="{FB5C0E6C-B359-F517-60C4-4D9A30EFC0D2}"/>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Ventes en volume : une lecture complémentaire au CA</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768096" y="1463040"/>
            <a:ext cx="4498848" cy="411480"/>
          </a:xfrm>
          <a:prstGeom prst="rect">
            <a:avLst/>
          </a:prstGeom>
          <a:noFill/>
          <a:ln/>
        </p:spPr>
        <p:txBody>
          <a:bodyPr wrap="square" lIns="254" tIns="254" rIns="254" bIns="254" rtlCol="0" anchor="ctr">
            <a:normAutofit/>
          </a:bodyPr>
          <a:lstStyle/>
          <a:p>
            <a:pPr marL="0" indent="0">
              <a:buNone/>
            </a:pPr>
            <a:r>
              <a:rPr lang="en-US" sz="1050" b="1" dirty="0">
                <a:latin typeface="Aptos" pitchFamily="34" charset="0"/>
                <a:ea typeface="Aptos" pitchFamily="34" charset="-122"/>
                <a:cs typeface="Aptos" pitchFamily="34" charset="-120"/>
              </a:rPr>
              <a:t>Produit</a:t>
            </a:r>
            <a:endParaRPr lang="en-US" sz="1050" dirty="0"/>
          </a:p>
        </p:txBody>
      </p:sp>
      <p:sp>
        <p:nvSpPr>
          <p:cNvPr id="6" name="Text 4"/>
          <p:cNvSpPr/>
          <p:nvPr/>
        </p:nvSpPr>
        <p:spPr>
          <a:xfrm>
            <a:off x="5340096" y="1463040"/>
            <a:ext cx="1207008" cy="411480"/>
          </a:xfrm>
          <a:prstGeom prst="rect">
            <a:avLst/>
          </a:prstGeom>
          <a:noFill/>
          <a:ln/>
        </p:spPr>
        <p:txBody>
          <a:bodyPr wrap="square" lIns="254" tIns="254" rIns="254" bIns="254" rtlCol="0" anchor="ctr">
            <a:normAutofit/>
          </a:bodyPr>
          <a:lstStyle/>
          <a:p>
            <a:pPr marL="0" indent="0">
              <a:buNone/>
            </a:pPr>
            <a:r>
              <a:rPr lang="en-US" sz="1050" b="1" dirty="0">
                <a:latin typeface="Aptos" pitchFamily="34" charset="0"/>
                <a:ea typeface="Aptos" pitchFamily="34" charset="-122"/>
                <a:cs typeface="Aptos" pitchFamily="34" charset="-120"/>
              </a:rPr>
              <a:t>Prix</a:t>
            </a:r>
            <a:endParaRPr lang="en-US" sz="1050" dirty="0"/>
          </a:p>
        </p:txBody>
      </p:sp>
      <p:sp>
        <p:nvSpPr>
          <p:cNvPr id="7" name="Text 5"/>
          <p:cNvSpPr/>
          <p:nvPr/>
        </p:nvSpPr>
        <p:spPr>
          <a:xfrm>
            <a:off x="6620256" y="1463040"/>
            <a:ext cx="1389888" cy="411480"/>
          </a:xfrm>
          <a:prstGeom prst="rect">
            <a:avLst/>
          </a:prstGeom>
          <a:noFill/>
          <a:ln/>
        </p:spPr>
        <p:txBody>
          <a:bodyPr wrap="square" lIns="254" tIns="254" rIns="254" bIns="254" rtlCol="0" anchor="ctr">
            <a:normAutofit/>
          </a:bodyPr>
          <a:lstStyle/>
          <a:p>
            <a:pPr marL="0" indent="0">
              <a:buNone/>
            </a:pPr>
            <a:r>
              <a:rPr lang="en-US" sz="1050" b="1" dirty="0">
                <a:latin typeface="Aptos" pitchFamily="34" charset="0"/>
                <a:ea typeface="Aptos" pitchFamily="34" charset="-122"/>
                <a:cs typeface="Aptos" pitchFamily="34" charset="-120"/>
              </a:rPr>
              <a:t>Unité vendue</a:t>
            </a:r>
            <a:endParaRPr lang="en-US" sz="1050" dirty="0"/>
          </a:p>
        </p:txBody>
      </p:sp>
      <p:sp>
        <p:nvSpPr>
          <p:cNvPr id="8" name="Text 6"/>
          <p:cNvSpPr/>
          <p:nvPr/>
        </p:nvSpPr>
        <p:spPr>
          <a:xfrm>
            <a:off x="8083296" y="1463040"/>
            <a:ext cx="3401568" cy="411480"/>
          </a:xfrm>
          <a:prstGeom prst="rect">
            <a:avLst/>
          </a:prstGeom>
          <a:noFill/>
          <a:ln/>
        </p:spPr>
        <p:txBody>
          <a:bodyPr wrap="square" lIns="254" tIns="254" rIns="254" bIns="254" rtlCol="0" anchor="ctr">
            <a:normAutofit/>
          </a:bodyPr>
          <a:lstStyle/>
          <a:p>
            <a:pPr marL="0" indent="0">
              <a:buNone/>
            </a:pPr>
            <a:r>
              <a:rPr lang="en-US" sz="1050" b="1" dirty="0">
                <a:latin typeface="Aptos" pitchFamily="34" charset="0"/>
                <a:ea typeface="Aptos" pitchFamily="34" charset="-122"/>
                <a:cs typeface="Aptos" pitchFamily="34" charset="-120"/>
              </a:rPr>
              <a:t>Lecture</a:t>
            </a:r>
            <a:endParaRPr lang="en-US" sz="1050" dirty="0"/>
          </a:p>
        </p:txBody>
      </p:sp>
      <p:sp>
        <p:nvSpPr>
          <p:cNvPr id="9" name="Shape 7"/>
          <p:cNvSpPr/>
          <p:nvPr/>
        </p:nvSpPr>
        <p:spPr>
          <a:xfrm>
            <a:off x="731520" y="1901952"/>
            <a:ext cx="10789920" cy="0"/>
          </a:xfrm>
          <a:prstGeom prst="line">
            <a:avLst/>
          </a:prstGeom>
          <a:noFill/>
          <a:ln w="13970">
            <a:solidFill>
              <a:srgbClr val="1E2A36"/>
            </a:solidFill>
            <a:prstDash val="solid"/>
          </a:ln>
        </p:spPr>
        <p:txBody>
          <a:bodyPr/>
          <a:lstStyle/>
          <a:p>
            <a:endParaRPr lang="fr-FR"/>
          </a:p>
        </p:txBody>
      </p:sp>
      <p:sp>
        <p:nvSpPr>
          <p:cNvPr id="10" name="Text 8"/>
          <p:cNvSpPr/>
          <p:nvPr/>
        </p:nvSpPr>
        <p:spPr>
          <a:xfrm>
            <a:off x="768096" y="1947672"/>
            <a:ext cx="449884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Château De La Selve Rosé 2019</a:t>
            </a:r>
            <a:endParaRPr lang="en-US" sz="1050" dirty="0"/>
          </a:p>
        </p:txBody>
      </p:sp>
      <p:sp>
        <p:nvSpPr>
          <p:cNvPr id="11" name="Text 9"/>
          <p:cNvSpPr/>
          <p:nvPr/>
        </p:nvSpPr>
        <p:spPr>
          <a:xfrm>
            <a:off x="5340096" y="1947672"/>
            <a:ext cx="120700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9,90 €</a:t>
            </a:r>
            <a:endParaRPr lang="en-US" sz="1050" dirty="0"/>
          </a:p>
        </p:txBody>
      </p:sp>
      <p:sp>
        <p:nvSpPr>
          <p:cNvPr id="12" name="Text 10"/>
          <p:cNvSpPr/>
          <p:nvPr/>
        </p:nvSpPr>
        <p:spPr>
          <a:xfrm>
            <a:off x="6620256" y="1947672"/>
            <a:ext cx="138988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122</a:t>
            </a:r>
            <a:endParaRPr lang="en-US" sz="1050" dirty="0"/>
          </a:p>
        </p:txBody>
      </p:sp>
      <p:sp>
        <p:nvSpPr>
          <p:cNvPr id="13" name="Text 11"/>
          <p:cNvSpPr/>
          <p:nvPr/>
        </p:nvSpPr>
        <p:spPr>
          <a:xfrm>
            <a:off x="8083296" y="1947672"/>
            <a:ext cx="340156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fort volume, prix faible</a:t>
            </a:r>
            <a:endParaRPr lang="en-US" sz="1050" dirty="0"/>
          </a:p>
        </p:txBody>
      </p:sp>
      <p:sp>
        <p:nvSpPr>
          <p:cNvPr id="14" name="Shape 12"/>
          <p:cNvSpPr/>
          <p:nvPr/>
        </p:nvSpPr>
        <p:spPr>
          <a:xfrm>
            <a:off x="731520" y="2386584"/>
            <a:ext cx="10789920" cy="0"/>
          </a:xfrm>
          <a:prstGeom prst="line">
            <a:avLst/>
          </a:prstGeom>
          <a:noFill/>
          <a:ln w="6350">
            <a:solidFill>
              <a:srgbClr val="D8D2C5"/>
            </a:solidFill>
            <a:prstDash val="solid"/>
          </a:ln>
        </p:spPr>
        <p:txBody>
          <a:bodyPr/>
          <a:lstStyle/>
          <a:p>
            <a:endParaRPr lang="fr-FR"/>
          </a:p>
        </p:txBody>
      </p:sp>
      <p:sp>
        <p:nvSpPr>
          <p:cNvPr id="15" name="Text 13"/>
          <p:cNvSpPr/>
          <p:nvPr/>
        </p:nvSpPr>
        <p:spPr>
          <a:xfrm>
            <a:off x="768096" y="2432304"/>
            <a:ext cx="449884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Mas Laval Les Pampres Blancs 2018</a:t>
            </a:r>
            <a:endParaRPr lang="en-US" sz="1050" dirty="0"/>
          </a:p>
        </p:txBody>
      </p:sp>
      <p:sp>
        <p:nvSpPr>
          <p:cNvPr id="16" name="Text 14"/>
          <p:cNvSpPr/>
          <p:nvPr/>
        </p:nvSpPr>
        <p:spPr>
          <a:xfrm>
            <a:off x="5340096" y="2432304"/>
            <a:ext cx="120700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9,90 €</a:t>
            </a:r>
            <a:endParaRPr lang="en-US" sz="1050" dirty="0"/>
          </a:p>
        </p:txBody>
      </p:sp>
      <p:sp>
        <p:nvSpPr>
          <p:cNvPr id="17" name="Text 15"/>
          <p:cNvSpPr/>
          <p:nvPr/>
        </p:nvSpPr>
        <p:spPr>
          <a:xfrm>
            <a:off x="6620256" y="2432304"/>
            <a:ext cx="138988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105</a:t>
            </a:r>
            <a:endParaRPr lang="en-US" sz="1050" dirty="0"/>
          </a:p>
        </p:txBody>
      </p:sp>
      <p:sp>
        <p:nvSpPr>
          <p:cNvPr id="18" name="Text 16"/>
          <p:cNvSpPr/>
          <p:nvPr/>
        </p:nvSpPr>
        <p:spPr>
          <a:xfrm>
            <a:off x="8083296" y="2432304"/>
            <a:ext cx="340156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fort volume, prix faible</a:t>
            </a:r>
            <a:endParaRPr lang="en-US" sz="1050" dirty="0"/>
          </a:p>
        </p:txBody>
      </p:sp>
      <p:sp>
        <p:nvSpPr>
          <p:cNvPr id="19" name="Shape 17"/>
          <p:cNvSpPr/>
          <p:nvPr/>
        </p:nvSpPr>
        <p:spPr>
          <a:xfrm>
            <a:off x="731520" y="2871216"/>
            <a:ext cx="10789920" cy="0"/>
          </a:xfrm>
          <a:prstGeom prst="line">
            <a:avLst/>
          </a:prstGeom>
          <a:noFill/>
          <a:ln w="6350">
            <a:solidFill>
              <a:srgbClr val="D8D2C5"/>
            </a:solidFill>
            <a:prstDash val="solid"/>
          </a:ln>
        </p:spPr>
        <p:txBody>
          <a:bodyPr/>
          <a:lstStyle/>
          <a:p>
            <a:endParaRPr lang="fr-FR"/>
          </a:p>
        </p:txBody>
      </p:sp>
      <p:sp>
        <p:nvSpPr>
          <p:cNvPr id="20" name="Text 18"/>
          <p:cNvSpPr/>
          <p:nvPr/>
        </p:nvSpPr>
        <p:spPr>
          <a:xfrm>
            <a:off x="768096" y="2916936"/>
            <a:ext cx="449884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Agnès Levet Côte Rôtie 2017</a:t>
            </a:r>
            <a:endParaRPr lang="en-US" sz="1050" dirty="0"/>
          </a:p>
        </p:txBody>
      </p:sp>
      <p:sp>
        <p:nvSpPr>
          <p:cNvPr id="21" name="Text 19"/>
          <p:cNvSpPr/>
          <p:nvPr/>
        </p:nvSpPr>
        <p:spPr>
          <a:xfrm>
            <a:off x="5340096" y="2916936"/>
            <a:ext cx="120700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41,20 €</a:t>
            </a:r>
            <a:endParaRPr lang="en-US" sz="1050" dirty="0"/>
          </a:p>
        </p:txBody>
      </p:sp>
      <p:sp>
        <p:nvSpPr>
          <p:cNvPr id="22" name="Text 20"/>
          <p:cNvSpPr/>
          <p:nvPr/>
        </p:nvSpPr>
        <p:spPr>
          <a:xfrm>
            <a:off x="6620256" y="2916936"/>
            <a:ext cx="138988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20</a:t>
            </a:r>
            <a:endParaRPr lang="en-US" sz="1050" dirty="0"/>
          </a:p>
        </p:txBody>
      </p:sp>
      <p:sp>
        <p:nvSpPr>
          <p:cNvPr id="23" name="Text 21"/>
          <p:cNvSpPr/>
          <p:nvPr/>
        </p:nvSpPr>
        <p:spPr>
          <a:xfrm>
            <a:off x="8083296" y="2916936"/>
            <a:ext cx="340156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volume moindre, CA élevé</a:t>
            </a:r>
            <a:endParaRPr lang="en-US" sz="1050" dirty="0"/>
          </a:p>
        </p:txBody>
      </p:sp>
      <p:sp>
        <p:nvSpPr>
          <p:cNvPr id="24" name="Shape 22"/>
          <p:cNvSpPr/>
          <p:nvPr/>
        </p:nvSpPr>
        <p:spPr>
          <a:xfrm>
            <a:off x="731520" y="3355848"/>
            <a:ext cx="10789920" cy="0"/>
          </a:xfrm>
          <a:prstGeom prst="line">
            <a:avLst/>
          </a:prstGeom>
          <a:noFill/>
          <a:ln w="6350">
            <a:solidFill>
              <a:srgbClr val="D8D2C5"/>
            </a:solidFill>
            <a:prstDash val="solid"/>
          </a:ln>
        </p:spPr>
        <p:txBody>
          <a:bodyPr/>
          <a:lstStyle/>
          <a:p>
            <a:endParaRPr lang="fr-FR"/>
          </a:p>
        </p:txBody>
      </p:sp>
      <p:sp>
        <p:nvSpPr>
          <p:cNvPr id="25" name="Text 23"/>
          <p:cNvSpPr/>
          <p:nvPr/>
        </p:nvSpPr>
        <p:spPr>
          <a:xfrm>
            <a:off x="768096" y="3401568"/>
            <a:ext cx="449884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Egly-Ouriet Millésimé 2008</a:t>
            </a:r>
            <a:endParaRPr lang="en-US" sz="1050" dirty="0"/>
          </a:p>
        </p:txBody>
      </p:sp>
      <p:sp>
        <p:nvSpPr>
          <p:cNvPr id="26" name="Text 24"/>
          <p:cNvSpPr/>
          <p:nvPr/>
        </p:nvSpPr>
        <p:spPr>
          <a:xfrm>
            <a:off x="5340096" y="3401568"/>
            <a:ext cx="120700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225,00 €</a:t>
            </a:r>
            <a:endParaRPr lang="en-US" sz="1050" dirty="0"/>
          </a:p>
        </p:txBody>
      </p:sp>
      <p:sp>
        <p:nvSpPr>
          <p:cNvPr id="27" name="Text 25"/>
          <p:cNvSpPr/>
          <p:nvPr/>
        </p:nvSpPr>
        <p:spPr>
          <a:xfrm>
            <a:off x="6620256" y="3401568"/>
            <a:ext cx="138988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11</a:t>
            </a:r>
            <a:endParaRPr lang="en-US" sz="1050" dirty="0"/>
          </a:p>
        </p:txBody>
      </p:sp>
      <p:sp>
        <p:nvSpPr>
          <p:cNvPr id="28" name="Text 26"/>
          <p:cNvSpPr/>
          <p:nvPr/>
        </p:nvSpPr>
        <p:spPr>
          <a:xfrm>
            <a:off x="8083296" y="3401568"/>
            <a:ext cx="3401568" cy="411480"/>
          </a:xfrm>
          <a:prstGeom prst="rect">
            <a:avLst/>
          </a:prstGeom>
          <a:noFill/>
          <a:ln/>
        </p:spPr>
        <p:txBody>
          <a:bodyPr wrap="square" lIns="254" tIns="254" rIns="254" bIns="254" rtlCol="0" anchor="ctr">
            <a:normAutofit/>
          </a:bodyPr>
          <a:lstStyle/>
          <a:p>
            <a:pPr marL="0" indent="0">
              <a:buNone/>
            </a:pPr>
            <a:r>
              <a:rPr lang="en-US" sz="1050" dirty="0">
                <a:solidFill>
                  <a:srgbClr val="171A1F"/>
                </a:solidFill>
                <a:latin typeface="Aptos" pitchFamily="34" charset="0"/>
                <a:ea typeface="Aptos" pitchFamily="34" charset="-122"/>
                <a:cs typeface="Aptos" pitchFamily="34" charset="-120"/>
              </a:rPr>
              <a:t>faible volume, CA très élevé</a:t>
            </a:r>
            <a:endParaRPr lang="en-US" sz="1050" dirty="0"/>
          </a:p>
        </p:txBody>
      </p:sp>
      <p:sp>
        <p:nvSpPr>
          <p:cNvPr id="29" name="Shape 27"/>
          <p:cNvSpPr/>
          <p:nvPr/>
        </p:nvSpPr>
        <p:spPr>
          <a:xfrm>
            <a:off x="731520" y="3840480"/>
            <a:ext cx="10789920" cy="0"/>
          </a:xfrm>
          <a:prstGeom prst="line">
            <a:avLst/>
          </a:prstGeom>
          <a:noFill/>
          <a:ln w="6350">
            <a:solidFill>
              <a:srgbClr val="D8D2C5"/>
            </a:solidFill>
            <a:prstDash val="solid"/>
          </a:ln>
        </p:spPr>
        <p:txBody>
          <a:bodyPr/>
          <a:lstStyle/>
          <a:p>
            <a:endParaRPr lang="fr-FR"/>
          </a:p>
        </p:txBody>
      </p:sp>
      <p:sp>
        <p:nvSpPr>
          <p:cNvPr id="30" name="Text 28"/>
          <p:cNvSpPr/>
          <p:nvPr/>
        </p:nvSpPr>
        <p:spPr>
          <a:xfrm>
            <a:off x="868680" y="4480560"/>
            <a:ext cx="10241280" cy="502920"/>
          </a:xfrm>
          <a:prstGeom prst="rect">
            <a:avLst/>
          </a:prstGeom>
          <a:noFill/>
          <a:ln/>
        </p:spPr>
        <p:txBody>
          <a:bodyPr wrap="square" lIns="381" tIns="381" rIns="381" bIns="381" rtlCol="0" anchor="t">
            <a:normAutofit fontScale="92500" lnSpcReduction="10000"/>
          </a:bodyPr>
          <a:lstStyle/>
          <a:p>
            <a:pPr marL="0" indent="0">
              <a:buNone/>
            </a:pPr>
            <a:r>
              <a:rPr lang="en-US" sz="1900" b="1" dirty="0">
                <a:solidFill>
                  <a:srgbClr val="1E2A36"/>
                </a:solidFill>
              </a:rPr>
              <a:t>Décision commerciale : séparer les indicateurs de volume et de chiffre d’affaires pour éviter les conclusions hâtives.</a:t>
            </a:r>
            <a:endParaRPr lang="en-US" sz="1900" dirty="0"/>
          </a:p>
        </p:txBody>
      </p:sp>
      <p:sp>
        <p:nvSpPr>
          <p:cNvPr id="31"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12</a:t>
            </a:fld>
            <a:endParaRPr lang="en-US"/>
          </a:p>
        </p:txBody>
      </p:sp>
      <p:pic>
        <p:nvPicPr>
          <p:cNvPr id="33" name="Image 32">
            <a:extLst>
              <a:ext uri="{FF2B5EF4-FFF2-40B4-BE49-F238E27FC236}">
                <a16:creationId xmlns:a16="http://schemas.microsoft.com/office/drawing/2014/main" id="{06CF28D2-814D-B41E-6494-C2298DAF6A90}"/>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Stock : volume physique et valeur immobilisée</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868680" y="2542032"/>
            <a:ext cx="2743200" cy="502920"/>
          </a:xfrm>
          <a:prstGeom prst="rect">
            <a:avLst/>
          </a:prstGeom>
          <a:noFill/>
          <a:ln/>
        </p:spPr>
        <p:txBody>
          <a:bodyPr wrap="square" lIns="0" tIns="0" rIns="0" bIns="0" rtlCol="0" anchor="ctr">
            <a:normAutofit/>
          </a:bodyPr>
          <a:lstStyle/>
          <a:p>
            <a:pPr marL="0" indent="0">
              <a:buNone/>
            </a:pPr>
            <a:r>
              <a:rPr lang="en-US" sz="2800" b="1" dirty="0">
                <a:solidFill>
                  <a:srgbClr val="3E8E5B"/>
                </a:solidFill>
              </a:rPr>
              <a:t>17 822</a:t>
            </a:r>
            <a:endParaRPr lang="en-US" sz="2800" dirty="0"/>
          </a:p>
        </p:txBody>
      </p:sp>
      <p:sp>
        <p:nvSpPr>
          <p:cNvPr id="6" name="Text 4"/>
          <p:cNvSpPr/>
          <p:nvPr/>
        </p:nvSpPr>
        <p:spPr>
          <a:xfrm>
            <a:off x="868680" y="3072384"/>
            <a:ext cx="274320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unités en stock</a:t>
            </a:r>
            <a:endParaRPr lang="en-US" sz="1100" dirty="0"/>
          </a:p>
        </p:txBody>
      </p:sp>
      <p:sp>
        <p:nvSpPr>
          <p:cNvPr id="7" name="Text 5"/>
          <p:cNvSpPr/>
          <p:nvPr/>
        </p:nvSpPr>
        <p:spPr>
          <a:xfrm>
            <a:off x="3977640" y="2542032"/>
            <a:ext cx="3840480" cy="502920"/>
          </a:xfrm>
          <a:prstGeom prst="rect">
            <a:avLst/>
          </a:prstGeom>
          <a:noFill/>
          <a:ln/>
        </p:spPr>
        <p:txBody>
          <a:bodyPr wrap="square" lIns="0" tIns="0" rIns="0" bIns="0" rtlCol="0" anchor="ctr">
            <a:normAutofit/>
          </a:bodyPr>
          <a:lstStyle/>
          <a:p>
            <a:pPr marL="0" indent="0">
              <a:buNone/>
            </a:pPr>
            <a:r>
              <a:rPr lang="en-US" sz="2800" b="1" dirty="0">
                <a:solidFill>
                  <a:srgbClr val="B88735"/>
                </a:solidFill>
              </a:rPr>
              <a:t>298 627 €</a:t>
            </a:r>
            <a:endParaRPr lang="en-US" sz="2800" dirty="0"/>
          </a:p>
        </p:txBody>
      </p:sp>
      <p:sp>
        <p:nvSpPr>
          <p:cNvPr id="8" name="Text 6"/>
          <p:cNvSpPr/>
          <p:nvPr/>
        </p:nvSpPr>
        <p:spPr>
          <a:xfrm>
            <a:off x="3977640" y="3072384"/>
            <a:ext cx="384048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valorisation totale du stock au prix d’achat</a:t>
            </a:r>
            <a:endParaRPr lang="en-US" sz="1100" dirty="0"/>
          </a:p>
        </p:txBody>
      </p:sp>
      <p:sp>
        <p:nvSpPr>
          <p:cNvPr id="9" name="Text 7"/>
          <p:cNvSpPr/>
          <p:nvPr/>
        </p:nvSpPr>
        <p:spPr>
          <a:xfrm>
            <a:off x="8183880" y="2542032"/>
            <a:ext cx="2926080" cy="502920"/>
          </a:xfrm>
          <a:prstGeom prst="rect">
            <a:avLst/>
          </a:prstGeom>
          <a:noFill/>
          <a:ln/>
        </p:spPr>
        <p:txBody>
          <a:bodyPr wrap="square" lIns="0" tIns="0" rIns="0" bIns="0" rtlCol="0" anchor="ctr">
            <a:normAutofit/>
          </a:bodyPr>
          <a:lstStyle/>
          <a:p>
            <a:pPr marL="0" indent="0">
              <a:buNone/>
            </a:pPr>
            <a:r>
              <a:rPr lang="en-US" sz="2800" b="1" dirty="0">
                <a:solidFill>
                  <a:srgbClr val="33A5B6"/>
                </a:solidFill>
              </a:rPr>
              <a:t>Stock / ventes</a:t>
            </a:r>
            <a:endParaRPr lang="en-US" sz="2800" dirty="0"/>
          </a:p>
        </p:txBody>
      </p:sp>
      <p:sp>
        <p:nvSpPr>
          <p:cNvPr id="10" name="Text 8"/>
          <p:cNvSpPr/>
          <p:nvPr/>
        </p:nvSpPr>
        <p:spPr>
          <a:xfrm>
            <a:off x="8183880" y="3072384"/>
            <a:ext cx="2926080" cy="365760"/>
          </a:xfrm>
          <a:prstGeom prst="rect">
            <a:avLst/>
          </a:prstGeom>
          <a:noFill/>
          <a:ln/>
        </p:spPr>
        <p:txBody>
          <a:bodyPr wrap="square" lIns="0" tIns="0" rIns="0" bIns="0" rtlCol="0" anchor="ctr">
            <a:normAutofit/>
          </a:bodyPr>
          <a:lstStyle/>
          <a:p>
            <a:pPr marL="0" indent="0">
              <a:buNone/>
            </a:pPr>
            <a:r>
              <a:rPr lang="en-US" sz="1100" dirty="0">
                <a:solidFill>
                  <a:srgbClr val="655F57"/>
                </a:solidFill>
              </a:rPr>
              <a:t>mois de stock pour détecter les faibles rotations</a:t>
            </a:r>
            <a:endParaRPr lang="en-US" sz="1100" dirty="0"/>
          </a:p>
        </p:txBody>
      </p:sp>
      <p:sp>
        <p:nvSpPr>
          <p:cNvPr id="11" name="Text 9"/>
          <p:cNvSpPr/>
          <p:nvPr/>
        </p:nvSpPr>
        <p:spPr>
          <a:xfrm>
            <a:off x="868680" y="4415185"/>
            <a:ext cx="3840480" cy="228600"/>
          </a:xfrm>
          <a:prstGeom prst="rect">
            <a:avLst/>
          </a:prstGeom>
          <a:noFill/>
          <a:ln/>
        </p:spPr>
        <p:txBody>
          <a:bodyPr wrap="square" lIns="0" tIns="0" rIns="0" bIns="0" rtlCol="0" anchor="ctr"/>
          <a:lstStyle/>
          <a:p>
            <a:pPr marL="0" indent="0">
              <a:buNone/>
            </a:pPr>
            <a:r>
              <a:rPr lang="en-US" sz="1000" b="1" dirty="0">
                <a:solidFill>
                  <a:srgbClr val="33A5B6"/>
                </a:solidFill>
              </a:rPr>
              <a:t>RISQUE IDENTIFIÉ</a:t>
            </a:r>
            <a:endParaRPr lang="en-US" sz="1000" dirty="0"/>
          </a:p>
        </p:txBody>
      </p:sp>
      <p:sp>
        <p:nvSpPr>
          <p:cNvPr id="12" name="Shape 10"/>
          <p:cNvSpPr/>
          <p:nvPr/>
        </p:nvSpPr>
        <p:spPr>
          <a:xfrm>
            <a:off x="868680" y="4707793"/>
            <a:ext cx="3840480" cy="0"/>
          </a:xfrm>
          <a:prstGeom prst="line">
            <a:avLst/>
          </a:prstGeom>
          <a:noFill/>
          <a:ln w="15240">
            <a:solidFill>
              <a:srgbClr val="33A5B6"/>
            </a:solidFill>
            <a:prstDash val="solid"/>
          </a:ln>
        </p:spPr>
        <p:txBody>
          <a:bodyPr/>
          <a:lstStyle/>
          <a:p>
            <a:endParaRPr lang="fr-FR"/>
          </a:p>
        </p:txBody>
      </p:sp>
      <p:sp>
        <p:nvSpPr>
          <p:cNvPr id="13" name="Text 11"/>
          <p:cNvSpPr/>
          <p:nvPr/>
        </p:nvSpPr>
        <p:spPr>
          <a:xfrm>
            <a:off x="914400" y="4826665"/>
            <a:ext cx="10241280" cy="1508760"/>
          </a:xfrm>
          <a:prstGeom prst="rect">
            <a:avLst/>
          </a:prstGeom>
          <a:noFill/>
          <a:ln/>
        </p:spPr>
        <p:txBody>
          <a:bodyPr wrap="square" lIns="635" tIns="635" rIns="635" bIns="635" rtlCol="0" anchor="t">
            <a:normAutofit/>
          </a:bodyPr>
          <a:lstStyle/>
          <a:p>
            <a:r>
              <a:rPr lang="en-US" sz="1600" dirty="0">
                <a:solidFill>
                  <a:srgbClr val="171A1F"/>
                </a:solidFill>
              </a:rPr>
              <a:t>Certains produits disposent d’un stock important par rapport aux ventes </a:t>
            </a:r>
            <a:r>
              <a:rPr lang="en-US" sz="1600" dirty="0" err="1">
                <a:solidFill>
                  <a:srgbClr val="171A1F"/>
                </a:solidFill>
              </a:rPr>
              <a:t>observées</a:t>
            </a:r>
            <a:r>
              <a:rPr lang="en-US" sz="1600" dirty="0">
                <a:solidFill>
                  <a:srgbClr val="171A1F"/>
                </a:solidFill>
              </a:rPr>
              <a:t>.</a:t>
            </a:r>
          </a:p>
          <a:p>
            <a:endParaRPr lang="en-US" sz="1600" dirty="0"/>
          </a:p>
          <a:p>
            <a:r>
              <a:rPr lang="en-US" sz="1600" dirty="0">
                <a:solidFill>
                  <a:srgbClr val="171A1F"/>
                </a:solidFill>
              </a:rPr>
              <a:t>La valeur du stock représente une immobilisation financière à </a:t>
            </a:r>
            <a:r>
              <a:rPr lang="en-US" sz="1600" dirty="0" err="1">
                <a:solidFill>
                  <a:srgbClr val="171A1F"/>
                </a:solidFill>
              </a:rPr>
              <a:t>piloter</a:t>
            </a:r>
            <a:r>
              <a:rPr lang="en-US" sz="1600" dirty="0">
                <a:solidFill>
                  <a:srgbClr val="171A1F"/>
                </a:solidFill>
              </a:rPr>
              <a:t>.</a:t>
            </a:r>
          </a:p>
          <a:p>
            <a:endParaRPr lang="en-US" sz="1600" dirty="0"/>
          </a:p>
          <a:p>
            <a:r>
              <a:rPr lang="en-US" sz="1600" dirty="0">
                <a:solidFill>
                  <a:srgbClr val="171A1F"/>
                </a:solidFill>
              </a:rPr>
              <a:t>Le futur ERP doit permettre un suivi des rotations et des alertes de surstock.</a:t>
            </a:r>
            <a:endParaRPr lang="en-US" sz="16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13</a:t>
            </a:fld>
            <a:endParaRPr lang="en-US"/>
          </a:p>
        </p:txBody>
      </p:sp>
      <p:pic>
        <p:nvPicPr>
          <p:cNvPr id="15" name="Image 14">
            <a:extLst>
              <a:ext uri="{FF2B5EF4-FFF2-40B4-BE49-F238E27FC236}">
                <a16:creationId xmlns:a16="http://schemas.microsoft.com/office/drawing/2014/main" id="{B73CDEFD-03E6-0613-F9E7-370329755994}"/>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Marge : rentabilité par type de produit</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graphicFrame>
        <p:nvGraphicFramePr>
          <p:cNvPr id="5" name="Chart 0"/>
          <p:cNvGraphicFramePr/>
          <p:nvPr/>
        </p:nvGraphicFramePr>
        <p:xfrm>
          <a:off x="868680" y="1417320"/>
          <a:ext cx="585216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3"/>
          <p:cNvSpPr/>
          <p:nvPr/>
        </p:nvSpPr>
        <p:spPr>
          <a:xfrm>
            <a:off x="6976110" y="1525524"/>
            <a:ext cx="3657600" cy="228600"/>
          </a:xfrm>
          <a:prstGeom prst="rect">
            <a:avLst/>
          </a:prstGeom>
          <a:noFill/>
          <a:ln/>
        </p:spPr>
        <p:txBody>
          <a:bodyPr wrap="square" lIns="0" tIns="0" rIns="0" bIns="0" rtlCol="0" anchor="ctr"/>
          <a:lstStyle/>
          <a:p>
            <a:pPr marL="0" indent="0">
              <a:buNone/>
            </a:pPr>
            <a:r>
              <a:rPr lang="en-US" sz="1000" b="1" dirty="0">
                <a:solidFill>
                  <a:srgbClr val="33A5B6"/>
                </a:solidFill>
              </a:rPr>
              <a:t>LECTURE</a:t>
            </a:r>
            <a:endParaRPr lang="en-US" sz="1000" dirty="0"/>
          </a:p>
        </p:txBody>
      </p:sp>
      <p:sp>
        <p:nvSpPr>
          <p:cNvPr id="7" name="Shape 4"/>
          <p:cNvSpPr/>
          <p:nvPr/>
        </p:nvSpPr>
        <p:spPr>
          <a:xfrm>
            <a:off x="6976110" y="1818132"/>
            <a:ext cx="3657600" cy="0"/>
          </a:xfrm>
          <a:prstGeom prst="line">
            <a:avLst/>
          </a:prstGeom>
          <a:noFill/>
          <a:ln w="15240">
            <a:solidFill>
              <a:srgbClr val="33A5B6"/>
            </a:solidFill>
            <a:prstDash val="solid"/>
          </a:ln>
        </p:spPr>
        <p:txBody>
          <a:bodyPr/>
          <a:lstStyle/>
          <a:p>
            <a:endParaRPr lang="fr-FR"/>
          </a:p>
        </p:txBody>
      </p:sp>
      <p:sp>
        <p:nvSpPr>
          <p:cNvPr id="8" name="Text 5"/>
          <p:cNvSpPr/>
          <p:nvPr/>
        </p:nvSpPr>
        <p:spPr>
          <a:xfrm>
            <a:off x="7021830" y="1937004"/>
            <a:ext cx="4206240" cy="2194560"/>
          </a:xfrm>
          <a:prstGeom prst="rect">
            <a:avLst/>
          </a:prstGeom>
          <a:noFill/>
          <a:ln/>
        </p:spPr>
        <p:txBody>
          <a:bodyPr wrap="square" lIns="635" tIns="635" rIns="635" bIns="635" rtlCol="0" anchor="t">
            <a:normAutofit/>
          </a:bodyPr>
          <a:lstStyle/>
          <a:p>
            <a:r>
              <a:rPr lang="en-US" sz="1500" dirty="0">
                <a:solidFill>
                  <a:srgbClr val="171A1F"/>
                </a:solidFill>
              </a:rPr>
              <a:t>Les catégories spiritueux présentent les taux de marge moyens les plus </a:t>
            </a:r>
            <a:r>
              <a:rPr lang="en-US" sz="1500" dirty="0" err="1">
                <a:solidFill>
                  <a:srgbClr val="171A1F"/>
                </a:solidFill>
              </a:rPr>
              <a:t>élevés</a:t>
            </a:r>
            <a:r>
              <a:rPr lang="en-US" sz="1500" dirty="0">
                <a:solidFill>
                  <a:srgbClr val="171A1F"/>
                </a:solidFill>
              </a:rPr>
              <a:t>.</a:t>
            </a:r>
          </a:p>
          <a:p>
            <a:endParaRPr lang="en-US" sz="1500" dirty="0"/>
          </a:p>
          <a:p>
            <a:r>
              <a:rPr lang="en-US" sz="1500" dirty="0">
                <a:solidFill>
                  <a:srgbClr val="171A1F"/>
                </a:solidFill>
              </a:rPr>
              <a:t>Le vin représente une marge moyenne solide mais inférieure aux </a:t>
            </a:r>
            <a:r>
              <a:rPr lang="en-US" sz="1500" dirty="0" err="1">
                <a:solidFill>
                  <a:srgbClr val="171A1F"/>
                </a:solidFill>
              </a:rPr>
              <a:t>spiritueux</a:t>
            </a:r>
            <a:r>
              <a:rPr lang="en-US" sz="1500" dirty="0">
                <a:solidFill>
                  <a:srgbClr val="171A1F"/>
                </a:solidFill>
              </a:rPr>
              <a:t>.</a:t>
            </a:r>
          </a:p>
          <a:p>
            <a:endParaRPr lang="en-US" sz="1500" dirty="0"/>
          </a:p>
          <a:p>
            <a:r>
              <a:rPr lang="en-US" sz="1500" dirty="0">
                <a:solidFill>
                  <a:srgbClr val="171A1F"/>
                </a:solidFill>
              </a:rPr>
              <a:t>Champagne et huile d’olive sont plus faibles en marge relative.</a:t>
            </a:r>
            <a:endParaRPr lang="en-US" sz="1500" dirty="0"/>
          </a:p>
        </p:txBody>
      </p:sp>
      <p:sp>
        <p:nvSpPr>
          <p:cNvPr id="9" name="Text 6"/>
          <p:cNvSpPr/>
          <p:nvPr/>
        </p:nvSpPr>
        <p:spPr>
          <a:xfrm>
            <a:off x="1097280" y="6057900"/>
            <a:ext cx="7498080" cy="320040"/>
          </a:xfrm>
          <a:prstGeom prst="rect">
            <a:avLst/>
          </a:prstGeom>
          <a:noFill/>
          <a:ln/>
        </p:spPr>
        <p:txBody>
          <a:bodyPr wrap="square" lIns="381" tIns="381" rIns="381" bIns="381" rtlCol="0" anchor="t">
            <a:normAutofit/>
          </a:bodyPr>
          <a:lstStyle/>
          <a:p>
            <a:pPr marL="0" indent="0">
              <a:buNone/>
            </a:pPr>
            <a:r>
              <a:rPr lang="en-US" sz="1300" i="1" dirty="0">
                <a:solidFill>
                  <a:srgbClr val="655F57"/>
                </a:solidFill>
              </a:rPr>
              <a:t>Marge calculée : (prix HT − prix d’achat) / prix d’achat.</a:t>
            </a:r>
            <a:endParaRPr lang="en-US" sz="13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14</a:t>
            </a:fld>
            <a:endParaRPr lang="en-US"/>
          </a:p>
        </p:txBody>
      </p:sp>
      <p:pic>
        <p:nvPicPr>
          <p:cNvPr id="11" name="Image 10">
            <a:extLst>
              <a:ext uri="{FF2B5EF4-FFF2-40B4-BE49-F238E27FC236}">
                <a16:creationId xmlns:a16="http://schemas.microsoft.com/office/drawing/2014/main" id="{095D5594-A713-4D4F-249D-304A4953377B}"/>
              </a:ext>
            </a:extLst>
          </p:cNvPr>
          <p:cNvPicPr>
            <a:picLocks noChangeAspect="1"/>
          </p:cNvPicPr>
          <p:nvPr/>
        </p:nvPicPr>
        <p:blipFill>
          <a:blip r:embed="rId3"/>
          <a:stretch>
            <a:fillRect/>
          </a:stretch>
        </p:blipFill>
        <p:spPr>
          <a:xfrm>
            <a:off x="10550106" y="16074"/>
            <a:ext cx="1640152" cy="11934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Marge négative : 4 produits à investiguer</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676656" y="1916811"/>
            <a:ext cx="1069848" cy="448056"/>
          </a:xfrm>
          <a:prstGeom prst="rect">
            <a:avLst/>
          </a:prstGeom>
          <a:noFill/>
          <a:ln/>
        </p:spPr>
        <p:txBody>
          <a:bodyPr wrap="square" lIns="254" tIns="254" rIns="254" bIns="254" rtlCol="0" anchor="ctr">
            <a:normAutofit/>
          </a:bodyPr>
          <a:lstStyle/>
          <a:p>
            <a:pPr marL="0" indent="0">
              <a:buNone/>
            </a:pPr>
            <a:r>
              <a:rPr lang="en-US" sz="930" b="1" dirty="0">
                <a:latin typeface="Aptos" pitchFamily="34" charset="0"/>
                <a:ea typeface="Aptos" pitchFamily="34" charset="-122"/>
                <a:cs typeface="Aptos" pitchFamily="34" charset="-120"/>
              </a:rPr>
              <a:t>product_id</a:t>
            </a:r>
            <a:endParaRPr lang="en-US" sz="930" dirty="0"/>
          </a:p>
        </p:txBody>
      </p:sp>
      <p:sp>
        <p:nvSpPr>
          <p:cNvPr id="6" name="Text 4"/>
          <p:cNvSpPr/>
          <p:nvPr/>
        </p:nvSpPr>
        <p:spPr>
          <a:xfrm>
            <a:off x="1819656" y="1916811"/>
            <a:ext cx="4818888" cy="448056"/>
          </a:xfrm>
          <a:prstGeom prst="rect">
            <a:avLst/>
          </a:prstGeom>
          <a:noFill/>
          <a:ln/>
        </p:spPr>
        <p:txBody>
          <a:bodyPr wrap="square" lIns="254" tIns="254" rIns="254" bIns="254" rtlCol="0" anchor="ctr">
            <a:normAutofit/>
          </a:bodyPr>
          <a:lstStyle/>
          <a:p>
            <a:pPr marL="0" indent="0">
              <a:buNone/>
            </a:pPr>
            <a:r>
              <a:rPr lang="en-US" sz="930" b="1" dirty="0">
                <a:latin typeface="Aptos" pitchFamily="34" charset="0"/>
                <a:ea typeface="Aptos" pitchFamily="34" charset="-122"/>
                <a:cs typeface="Aptos" pitchFamily="34" charset="-120"/>
              </a:rPr>
              <a:t>Produit</a:t>
            </a:r>
            <a:endParaRPr lang="en-US" sz="930" dirty="0"/>
          </a:p>
        </p:txBody>
      </p:sp>
      <p:sp>
        <p:nvSpPr>
          <p:cNvPr id="7" name="Text 5"/>
          <p:cNvSpPr/>
          <p:nvPr/>
        </p:nvSpPr>
        <p:spPr>
          <a:xfrm>
            <a:off x="6711696" y="1916811"/>
            <a:ext cx="1435608" cy="448056"/>
          </a:xfrm>
          <a:prstGeom prst="rect">
            <a:avLst/>
          </a:prstGeom>
          <a:noFill/>
          <a:ln/>
        </p:spPr>
        <p:txBody>
          <a:bodyPr wrap="square" lIns="254" tIns="254" rIns="254" bIns="254" rtlCol="0" anchor="ctr">
            <a:normAutofit/>
          </a:bodyPr>
          <a:lstStyle/>
          <a:p>
            <a:pPr marL="0" indent="0">
              <a:buNone/>
            </a:pPr>
            <a:r>
              <a:rPr lang="en-US" sz="930" b="1" dirty="0">
                <a:latin typeface="Aptos" pitchFamily="34" charset="0"/>
                <a:ea typeface="Aptos" pitchFamily="34" charset="-122"/>
                <a:cs typeface="Aptos" pitchFamily="34" charset="-120"/>
              </a:rPr>
              <a:t>Prix TTC</a:t>
            </a:r>
            <a:endParaRPr lang="en-US" sz="930" dirty="0"/>
          </a:p>
        </p:txBody>
      </p:sp>
      <p:sp>
        <p:nvSpPr>
          <p:cNvPr id="8" name="Text 6"/>
          <p:cNvSpPr/>
          <p:nvPr/>
        </p:nvSpPr>
        <p:spPr>
          <a:xfrm>
            <a:off x="8220456" y="1916811"/>
            <a:ext cx="1527048" cy="448056"/>
          </a:xfrm>
          <a:prstGeom prst="rect">
            <a:avLst/>
          </a:prstGeom>
          <a:noFill/>
          <a:ln/>
        </p:spPr>
        <p:txBody>
          <a:bodyPr wrap="square" lIns="254" tIns="254" rIns="254" bIns="254" rtlCol="0" anchor="ctr">
            <a:normAutofit/>
          </a:bodyPr>
          <a:lstStyle/>
          <a:p>
            <a:pPr marL="0" indent="0">
              <a:buNone/>
            </a:pPr>
            <a:r>
              <a:rPr lang="en-US" sz="930" b="1" dirty="0">
                <a:latin typeface="Aptos" pitchFamily="34" charset="0"/>
                <a:ea typeface="Aptos" pitchFamily="34" charset="-122"/>
                <a:cs typeface="Aptos" pitchFamily="34" charset="-120"/>
              </a:rPr>
              <a:t>Prix achat</a:t>
            </a:r>
            <a:endParaRPr lang="en-US" sz="930" dirty="0"/>
          </a:p>
        </p:txBody>
      </p:sp>
      <p:sp>
        <p:nvSpPr>
          <p:cNvPr id="9" name="Text 7"/>
          <p:cNvSpPr/>
          <p:nvPr/>
        </p:nvSpPr>
        <p:spPr>
          <a:xfrm>
            <a:off x="9820656" y="1916811"/>
            <a:ext cx="1572768" cy="448056"/>
          </a:xfrm>
          <a:prstGeom prst="rect">
            <a:avLst/>
          </a:prstGeom>
          <a:noFill/>
          <a:ln/>
        </p:spPr>
        <p:txBody>
          <a:bodyPr wrap="square" lIns="254" tIns="254" rIns="254" bIns="254" rtlCol="0" anchor="ctr">
            <a:normAutofit/>
          </a:bodyPr>
          <a:lstStyle/>
          <a:p>
            <a:pPr marL="0" indent="0">
              <a:buNone/>
            </a:pPr>
            <a:r>
              <a:rPr lang="en-US" sz="930" b="1" dirty="0">
                <a:latin typeface="Aptos" pitchFamily="34" charset="0"/>
                <a:ea typeface="Aptos" pitchFamily="34" charset="-122"/>
                <a:cs typeface="Aptos" pitchFamily="34" charset="-120"/>
              </a:rPr>
              <a:t>Taux marge</a:t>
            </a:r>
            <a:endParaRPr lang="en-US" sz="930" dirty="0"/>
          </a:p>
        </p:txBody>
      </p:sp>
      <p:sp>
        <p:nvSpPr>
          <p:cNvPr id="10" name="Shape 8"/>
          <p:cNvSpPr/>
          <p:nvPr/>
        </p:nvSpPr>
        <p:spPr>
          <a:xfrm>
            <a:off x="640080" y="2392299"/>
            <a:ext cx="10972800" cy="0"/>
          </a:xfrm>
          <a:prstGeom prst="line">
            <a:avLst/>
          </a:prstGeom>
          <a:noFill/>
          <a:ln w="13970">
            <a:solidFill>
              <a:srgbClr val="1E2A36"/>
            </a:solidFill>
            <a:prstDash val="solid"/>
          </a:ln>
        </p:spPr>
        <p:txBody>
          <a:bodyPr/>
          <a:lstStyle/>
          <a:p>
            <a:endParaRPr lang="fr-FR"/>
          </a:p>
        </p:txBody>
      </p:sp>
      <p:sp>
        <p:nvSpPr>
          <p:cNvPr id="11" name="Text 9"/>
          <p:cNvSpPr/>
          <p:nvPr/>
        </p:nvSpPr>
        <p:spPr>
          <a:xfrm>
            <a:off x="676656" y="2438019"/>
            <a:ext cx="10698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4355</a:t>
            </a:r>
            <a:endParaRPr lang="en-US" sz="930" dirty="0"/>
          </a:p>
        </p:txBody>
      </p:sp>
      <p:sp>
        <p:nvSpPr>
          <p:cNvPr id="12" name="Text 10"/>
          <p:cNvSpPr/>
          <p:nvPr/>
        </p:nvSpPr>
        <p:spPr>
          <a:xfrm>
            <a:off x="1819656" y="2438019"/>
            <a:ext cx="481888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Champagne Egly-Ouriet Grand Cru Blanc de Noirs</a:t>
            </a:r>
            <a:endParaRPr lang="en-US" sz="930" dirty="0"/>
          </a:p>
        </p:txBody>
      </p:sp>
      <p:sp>
        <p:nvSpPr>
          <p:cNvPr id="13" name="Text 11"/>
          <p:cNvSpPr/>
          <p:nvPr/>
        </p:nvSpPr>
        <p:spPr>
          <a:xfrm>
            <a:off x="6711696" y="2438019"/>
            <a:ext cx="143560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12,65 €</a:t>
            </a:r>
            <a:endParaRPr lang="en-US" sz="930" dirty="0"/>
          </a:p>
        </p:txBody>
      </p:sp>
      <p:sp>
        <p:nvSpPr>
          <p:cNvPr id="14" name="Text 12"/>
          <p:cNvSpPr/>
          <p:nvPr/>
        </p:nvSpPr>
        <p:spPr>
          <a:xfrm>
            <a:off x="8220456" y="2438019"/>
            <a:ext cx="15270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77,48 €</a:t>
            </a:r>
            <a:endParaRPr lang="en-US" sz="930" dirty="0"/>
          </a:p>
        </p:txBody>
      </p:sp>
      <p:sp>
        <p:nvSpPr>
          <p:cNvPr id="15" name="Text 13"/>
          <p:cNvSpPr/>
          <p:nvPr/>
        </p:nvSpPr>
        <p:spPr>
          <a:xfrm>
            <a:off x="9820656" y="2438019"/>
            <a:ext cx="157276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-86,39 %</a:t>
            </a:r>
            <a:endParaRPr lang="en-US" sz="930" dirty="0"/>
          </a:p>
        </p:txBody>
      </p:sp>
      <p:sp>
        <p:nvSpPr>
          <p:cNvPr id="16" name="Shape 14"/>
          <p:cNvSpPr/>
          <p:nvPr/>
        </p:nvSpPr>
        <p:spPr>
          <a:xfrm>
            <a:off x="640080" y="2913507"/>
            <a:ext cx="10972800" cy="0"/>
          </a:xfrm>
          <a:prstGeom prst="line">
            <a:avLst/>
          </a:prstGeom>
          <a:noFill/>
          <a:ln w="6350">
            <a:solidFill>
              <a:srgbClr val="D8D2C5"/>
            </a:solidFill>
            <a:prstDash val="solid"/>
          </a:ln>
        </p:spPr>
        <p:txBody>
          <a:bodyPr/>
          <a:lstStyle/>
          <a:p>
            <a:endParaRPr lang="fr-FR"/>
          </a:p>
        </p:txBody>
      </p:sp>
      <p:sp>
        <p:nvSpPr>
          <p:cNvPr id="17" name="Text 15"/>
          <p:cNvSpPr/>
          <p:nvPr/>
        </p:nvSpPr>
        <p:spPr>
          <a:xfrm>
            <a:off x="676656" y="2959227"/>
            <a:ext cx="10698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4864</a:t>
            </a:r>
            <a:endParaRPr lang="en-US" sz="930" dirty="0"/>
          </a:p>
        </p:txBody>
      </p:sp>
      <p:sp>
        <p:nvSpPr>
          <p:cNvPr id="18" name="Text 16"/>
          <p:cNvSpPr/>
          <p:nvPr/>
        </p:nvSpPr>
        <p:spPr>
          <a:xfrm>
            <a:off x="1819656" y="2959227"/>
            <a:ext cx="481888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Produit sans titre web</a:t>
            </a:r>
            <a:endParaRPr lang="en-US" sz="930" dirty="0"/>
          </a:p>
        </p:txBody>
      </p:sp>
      <p:sp>
        <p:nvSpPr>
          <p:cNvPr id="19" name="Text 17"/>
          <p:cNvSpPr/>
          <p:nvPr/>
        </p:nvSpPr>
        <p:spPr>
          <a:xfrm>
            <a:off x="6711696" y="2959227"/>
            <a:ext cx="143560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8,30 €</a:t>
            </a:r>
            <a:endParaRPr lang="en-US" sz="930" dirty="0"/>
          </a:p>
        </p:txBody>
      </p:sp>
      <p:sp>
        <p:nvSpPr>
          <p:cNvPr id="20" name="Text 18"/>
          <p:cNvSpPr/>
          <p:nvPr/>
        </p:nvSpPr>
        <p:spPr>
          <a:xfrm>
            <a:off x="8220456" y="2959227"/>
            <a:ext cx="15270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9,99 €</a:t>
            </a:r>
            <a:endParaRPr lang="en-US" sz="930" dirty="0"/>
          </a:p>
        </p:txBody>
      </p:sp>
      <p:sp>
        <p:nvSpPr>
          <p:cNvPr id="21" name="Text 19"/>
          <p:cNvSpPr/>
          <p:nvPr/>
        </p:nvSpPr>
        <p:spPr>
          <a:xfrm>
            <a:off x="9820656" y="2959227"/>
            <a:ext cx="157276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-30,76 %</a:t>
            </a:r>
            <a:endParaRPr lang="en-US" sz="930" dirty="0"/>
          </a:p>
        </p:txBody>
      </p:sp>
      <p:sp>
        <p:nvSpPr>
          <p:cNvPr id="22" name="Shape 20"/>
          <p:cNvSpPr/>
          <p:nvPr/>
        </p:nvSpPr>
        <p:spPr>
          <a:xfrm>
            <a:off x="640080" y="3434715"/>
            <a:ext cx="10972800" cy="0"/>
          </a:xfrm>
          <a:prstGeom prst="line">
            <a:avLst/>
          </a:prstGeom>
          <a:noFill/>
          <a:ln w="6350">
            <a:solidFill>
              <a:srgbClr val="D8D2C5"/>
            </a:solidFill>
            <a:prstDash val="solid"/>
          </a:ln>
        </p:spPr>
        <p:txBody>
          <a:bodyPr/>
          <a:lstStyle/>
          <a:p>
            <a:endParaRPr lang="fr-FR"/>
          </a:p>
        </p:txBody>
      </p:sp>
      <p:sp>
        <p:nvSpPr>
          <p:cNvPr id="23" name="Text 21"/>
          <p:cNvSpPr/>
          <p:nvPr/>
        </p:nvSpPr>
        <p:spPr>
          <a:xfrm>
            <a:off x="676656" y="3480435"/>
            <a:ext cx="10698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6324</a:t>
            </a:r>
            <a:endParaRPr lang="en-US" sz="930" dirty="0"/>
          </a:p>
        </p:txBody>
      </p:sp>
      <p:sp>
        <p:nvSpPr>
          <p:cNvPr id="24" name="Text 22"/>
          <p:cNvSpPr/>
          <p:nvPr/>
        </p:nvSpPr>
        <p:spPr>
          <a:xfrm>
            <a:off x="1819656" y="3480435"/>
            <a:ext cx="481888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Produit sans correspondance web</a:t>
            </a:r>
            <a:endParaRPr lang="en-US" sz="930" dirty="0"/>
          </a:p>
        </p:txBody>
      </p:sp>
      <p:sp>
        <p:nvSpPr>
          <p:cNvPr id="25" name="Text 23"/>
          <p:cNvSpPr/>
          <p:nvPr/>
        </p:nvSpPr>
        <p:spPr>
          <a:xfrm>
            <a:off x="6711696" y="3480435"/>
            <a:ext cx="143560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92,00 €</a:t>
            </a:r>
            <a:endParaRPr lang="en-US" sz="930" dirty="0"/>
          </a:p>
        </p:txBody>
      </p:sp>
      <p:sp>
        <p:nvSpPr>
          <p:cNvPr id="26" name="Text 24"/>
          <p:cNvSpPr/>
          <p:nvPr/>
        </p:nvSpPr>
        <p:spPr>
          <a:xfrm>
            <a:off x="8220456" y="3480435"/>
            <a:ext cx="15270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99,00 €</a:t>
            </a:r>
            <a:endParaRPr lang="en-US" sz="930" dirty="0"/>
          </a:p>
        </p:txBody>
      </p:sp>
      <p:sp>
        <p:nvSpPr>
          <p:cNvPr id="27" name="Text 25"/>
          <p:cNvSpPr/>
          <p:nvPr/>
        </p:nvSpPr>
        <p:spPr>
          <a:xfrm>
            <a:off x="9820656" y="3480435"/>
            <a:ext cx="157276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-22,56 %</a:t>
            </a:r>
            <a:endParaRPr lang="en-US" sz="930" dirty="0"/>
          </a:p>
        </p:txBody>
      </p:sp>
      <p:sp>
        <p:nvSpPr>
          <p:cNvPr id="28" name="Shape 26"/>
          <p:cNvSpPr/>
          <p:nvPr/>
        </p:nvSpPr>
        <p:spPr>
          <a:xfrm>
            <a:off x="640080" y="3955923"/>
            <a:ext cx="10972800" cy="0"/>
          </a:xfrm>
          <a:prstGeom prst="line">
            <a:avLst/>
          </a:prstGeom>
          <a:noFill/>
          <a:ln w="6350">
            <a:solidFill>
              <a:srgbClr val="D8D2C5"/>
            </a:solidFill>
            <a:prstDash val="solid"/>
          </a:ln>
        </p:spPr>
        <p:txBody>
          <a:bodyPr/>
          <a:lstStyle/>
          <a:p>
            <a:endParaRPr lang="fr-FR"/>
          </a:p>
        </p:txBody>
      </p:sp>
      <p:sp>
        <p:nvSpPr>
          <p:cNvPr id="29" name="Text 27"/>
          <p:cNvSpPr/>
          <p:nvPr/>
        </p:nvSpPr>
        <p:spPr>
          <a:xfrm>
            <a:off x="676656" y="4001643"/>
            <a:ext cx="10698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7196</a:t>
            </a:r>
            <a:endParaRPr lang="en-US" sz="930" dirty="0"/>
          </a:p>
        </p:txBody>
      </p:sp>
      <p:sp>
        <p:nvSpPr>
          <p:cNvPr id="30" name="Text 28"/>
          <p:cNvSpPr/>
          <p:nvPr/>
        </p:nvSpPr>
        <p:spPr>
          <a:xfrm>
            <a:off x="1819656" y="4001643"/>
            <a:ext cx="481888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Produit sans correspondance web</a:t>
            </a:r>
            <a:endParaRPr lang="en-US" sz="930" dirty="0"/>
          </a:p>
        </p:txBody>
      </p:sp>
      <p:sp>
        <p:nvSpPr>
          <p:cNvPr id="31" name="Text 29"/>
          <p:cNvSpPr/>
          <p:nvPr/>
        </p:nvSpPr>
        <p:spPr>
          <a:xfrm>
            <a:off x="6711696" y="4001643"/>
            <a:ext cx="143560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31,00 €</a:t>
            </a:r>
            <a:endParaRPr lang="en-US" sz="930" dirty="0"/>
          </a:p>
        </p:txBody>
      </p:sp>
      <p:sp>
        <p:nvSpPr>
          <p:cNvPr id="32" name="Text 30"/>
          <p:cNvSpPr/>
          <p:nvPr/>
        </p:nvSpPr>
        <p:spPr>
          <a:xfrm>
            <a:off x="8220456" y="4001643"/>
            <a:ext cx="152704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31,20 €</a:t>
            </a:r>
            <a:endParaRPr lang="en-US" sz="930" dirty="0"/>
          </a:p>
        </p:txBody>
      </p:sp>
      <p:sp>
        <p:nvSpPr>
          <p:cNvPr id="33" name="Text 31"/>
          <p:cNvSpPr/>
          <p:nvPr/>
        </p:nvSpPr>
        <p:spPr>
          <a:xfrm>
            <a:off x="9820656" y="4001643"/>
            <a:ext cx="1572768" cy="448056"/>
          </a:xfrm>
          <a:prstGeom prst="rect">
            <a:avLst/>
          </a:prstGeom>
          <a:noFill/>
          <a:ln/>
        </p:spPr>
        <p:txBody>
          <a:bodyPr wrap="square" lIns="254" tIns="254" rIns="254" bIns="254" rtlCol="0" anchor="ctr">
            <a:normAutofit/>
          </a:bodyPr>
          <a:lstStyle/>
          <a:p>
            <a:pPr marL="0" indent="0">
              <a:buNone/>
            </a:pPr>
            <a:r>
              <a:rPr lang="en-US" sz="930" dirty="0">
                <a:solidFill>
                  <a:srgbClr val="171A1F"/>
                </a:solidFill>
                <a:latin typeface="Aptos" pitchFamily="34" charset="0"/>
                <a:ea typeface="Aptos" pitchFamily="34" charset="-122"/>
                <a:cs typeface="Aptos" pitchFamily="34" charset="-120"/>
              </a:rPr>
              <a:t>-17,20 %</a:t>
            </a:r>
            <a:endParaRPr lang="en-US" sz="930" dirty="0"/>
          </a:p>
        </p:txBody>
      </p:sp>
      <p:sp>
        <p:nvSpPr>
          <p:cNvPr id="34" name="Shape 32"/>
          <p:cNvSpPr/>
          <p:nvPr/>
        </p:nvSpPr>
        <p:spPr>
          <a:xfrm>
            <a:off x="640080" y="4477131"/>
            <a:ext cx="10972800" cy="0"/>
          </a:xfrm>
          <a:prstGeom prst="line">
            <a:avLst/>
          </a:prstGeom>
          <a:noFill/>
          <a:ln w="6350">
            <a:solidFill>
              <a:srgbClr val="D8D2C5"/>
            </a:solidFill>
            <a:prstDash val="solid"/>
          </a:ln>
        </p:spPr>
        <p:txBody>
          <a:bodyPr/>
          <a:lstStyle/>
          <a:p>
            <a:endParaRPr lang="fr-FR"/>
          </a:p>
        </p:txBody>
      </p:sp>
      <p:sp>
        <p:nvSpPr>
          <p:cNvPr id="35" name="Text 33"/>
          <p:cNvSpPr/>
          <p:nvPr/>
        </p:nvSpPr>
        <p:spPr>
          <a:xfrm>
            <a:off x="868680" y="5341620"/>
            <a:ext cx="10332720" cy="731520"/>
          </a:xfrm>
          <a:prstGeom prst="rect">
            <a:avLst/>
          </a:prstGeom>
          <a:noFill/>
          <a:ln/>
        </p:spPr>
        <p:txBody>
          <a:bodyPr wrap="square" lIns="381" tIns="381" rIns="381" bIns="381" rtlCol="0" anchor="t">
            <a:normAutofit/>
          </a:bodyPr>
          <a:lstStyle/>
          <a:p>
            <a:pPr marL="0" indent="0">
              <a:buNone/>
            </a:pPr>
            <a:r>
              <a:rPr lang="en-US" sz="1700" b="1" dirty="0">
                <a:solidFill>
                  <a:srgbClr val="1E2A36"/>
                </a:solidFill>
              </a:rPr>
              <a:t>Conclusion : ces lignes peuvent signaler une erreur de prix, une erreur de prix d’achat, une promotion exceptionnelle ou une stratégie volontaire. Elles doivent être validées métier avant correction.</a:t>
            </a:r>
            <a:endParaRPr lang="en-US" sz="1700" dirty="0"/>
          </a:p>
        </p:txBody>
      </p:sp>
      <p:sp>
        <p:nvSpPr>
          <p:cNvPr id="36"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15</a:t>
            </a:fld>
            <a:endParaRPr lang="en-US"/>
          </a:p>
        </p:txBody>
      </p:sp>
      <p:pic>
        <p:nvPicPr>
          <p:cNvPr id="38" name="Image 37">
            <a:extLst>
              <a:ext uri="{FF2B5EF4-FFF2-40B4-BE49-F238E27FC236}">
                <a16:creationId xmlns:a16="http://schemas.microsoft.com/office/drawing/2014/main" id="{671A760D-3667-7263-CE1C-F2AF0ABE52CB}"/>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ANALYSE</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Corrélations : pas de relation linéaire forte</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768096" y="1897761"/>
            <a:ext cx="2852928" cy="47548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Variables croisées</a:t>
            </a:r>
            <a:endParaRPr lang="en-US" sz="1100" dirty="0"/>
          </a:p>
        </p:txBody>
      </p:sp>
      <p:sp>
        <p:nvSpPr>
          <p:cNvPr id="6" name="Text 4"/>
          <p:cNvSpPr/>
          <p:nvPr/>
        </p:nvSpPr>
        <p:spPr>
          <a:xfrm>
            <a:off x="3694176" y="1897761"/>
            <a:ext cx="3584448" cy="47548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Lecture</a:t>
            </a:r>
            <a:endParaRPr lang="en-US" sz="1100" dirty="0"/>
          </a:p>
        </p:txBody>
      </p:sp>
      <p:sp>
        <p:nvSpPr>
          <p:cNvPr id="7" name="Text 5"/>
          <p:cNvSpPr/>
          <p:nvPr/>
        </p:nvSpPr>
        <p:spPr>
          <a:xfrm>
            <a:off x="7351776" y="1897761"/>
            <a:ext cx="4133088" cy="47548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Implication</a:t>
            </a:r>
            <a:endParaRPr lang="en-US" sz="1100" dirty="0"/>
          </a:p>
        </p:txBody>
      </p:sp>
      <p:sp>
        <p:nvSpPr>
          <p:cNvPr id="8" name="Shape 6"/>
          <p:cNvSpPr/>
          <p:nvPr/>
        </p:nvSpPr>
        <p:spPr>
          <a:xfrm>
            <a:off x="731520" y="2400681"/>
            <a:ext cx="10789920" cy="0"/>
          </a:xfrm>
          <a:prstGeom prst="line">
            <a:avLst/>
          </a:prstGeom>
          <a:noFill/>
          <a:ln w="13970">
            <a:solidFill>
              <a:srgbClr val="1E2A36"/>
            </a:solidFill>
            <a:prstDash val="solid"/>
          </a:ln>
        </p:spPr>
        <p:txBody>
          <a:bodyPr/>
          <a:lstStyle/>
          <a:p>
            <a:endParaRPr lang="fr-FR"/>
          </a:p>
        </p:txBody>
      </p:sp>
      <p:sp>
        <p:nvSpPr>
          <p:cNvPr id="9" name="Text 7"/>
          <p:cNvSpPr/>
          <p:nvPr/>
        </p:nvSpPr>
        <p:spPr>
          <a:xfrm>
            <a:off x="768096" y="2446401"/>
            <a:ext cx="285292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Prix ↔ ventes</a:t>
            </a:r>
            <a:endParaRPr lang="en-US" sz="1100" dirty="0"/>
          </a:p>
        </p:txBody>
      </p:sp>
      <p:sp>
        <p:nvSpPr>
          <p:cNvPr id="10" name="Text 8"/>
          <p:cNvSpPr/>
          <p:nvPr/>
        </p:nvSpPr>
        <p:spPr>
          <a:xfrm>
            <a:off x="3694176" y="2446401"/>
            <a:ext cx="358444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Relation légèrement négative mais faible</a:t>
            </a:r>
            <a:endParaRPr lang="en-US" sz="1100" dirty="0"/>
          </a:p>
        </p:txBody>
      </p:sp>
      <p:sp>
        <p:nvSpPr>
          <p:cNvPr id="11" name="Text 9"/>
          <p:cNvSpPr/>
          <p:nvPr/>
        </p:nvSpPr>
        <p:spPr>
          <a:xfrm>
            <a:off x="7351776" y="2446401"/>
            <a:ext cx="413308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Le prix seul n’explique pas les ventes</a:t>
            </a:r>
            <a:endParaRPr lang="en-US" sz="1100" dirty="0"/>
          </a:p>
        </p:txBody>
      </p:sp>
      <p:sp>
        <p:nvSpPr>
          <p:cNvPr id="12" name="Shape 10"/>
          <p:cNvSpPr/>
          <p:nvPr/>
        </p:nvSpPr>
        <p:spPr>
          <a:xfrm>
            <a:off x="731520" y="2949321"/>
            <a:ext cx="10789920" cy="0"/>
          </a:xfrm>
          <a:prstGeom prst="line">
            <a:avLst/>
          </a:prstGeom>
          <a:noFill/>
          <a:ln w="6350">
            <a:solidFill>
              <a:srgbClr val="D8D2C5"/>
            </a:solidFill>
            <a:prstDash val="solid"/>
          </a:ln>
        </p:spPr>
        <p:txBody>
          <a:bodyPr/>
          <a:lstStyle/>
          <a:p>
            <a:endParaRPr lang="fr-FR"/>
          </a:p>
        </p:txBody>
      </p:sp>
      <p:sp>
        <p:nvSpPr>
          <p:cNvPr id="13" name="Text 11"/>
          <p:cNvSpPr/>
          <p:nvPr/>
        </p:nvSpPr>
        <p:spPr>
          <a:xfrm>
            <a:off x="768096" y="2995041"/>
            <a:ext cx="285292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Stock ↔ ventes</a:t>
            </a:r>
            <a:endParaRPr lang="en-US" sz="1100" dirty="0"/>
          </a:p>
        </p:txBody>
      </p:sp>
      <p:sp>
        <p:nvSpPr>
          <p:cNvPr id="14" name="Text 12"/>
          <p:cNvSpPr/>
          <p:nvPr/>
        </p:nvSpPr>
        <p:spPr>
          <a:xfrm>
            <a:off x="3694176" y="2995041"/>
            <a:ext cx="358444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Relation faible</a:t>
            </a:r>
            <a:endParaRPr lang="en-US" sz="1100" dirty="0"/>
          </a:p>
        </p:txBody>
      </p:sp>
      <p:sp>
        <p:nvSpPr>
          <p:cNvPr id="15" name="Text 13"/>
          <p:cNvSpPr/>
          <p:nvPr/>
        </p:nvSpPr>
        <p:spPr>
          <a:xfrm>
            <a:off x="7351776" y="2995041"/>
            <a:ext cx="413308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Un stock élevé ne signifie pas vente élevée</a:t>
            </a:r>
            <a:endParaRPr lang="en-US" sz="1100" dirty="0"/>
          </a:p>
        </p:txBody>
      </p:sp>
      <p:sp>
        <p:nvSpPr>
          <p:cNvPr id="16" name="Shape 14"/>
          <p:cNvSpPr/>
          <p:nvPr/>
        </p:nvSpPr>
        <p:spPr>
          <a:xfrm>
            <a:off x="731520" y="3497961"/>
            <a:ext cx="10789920" cy="0"/>
          </a:xfrm>
          <a:prstGeom prst="line">
            <a:avLst/>
          </a:prstGeom>
          <a:noFill/>
          <a:ln w="6350">
            <a:solidFill>
              <a:srgbClr val="D8D2C5"/>
            </a:solidFill>
            <a:prstDash val="solid"/>
          </a:ln>
        </p:spPr>
        <p:txBody>
          <a:bodyPr/>
          <a:lstStyle/>
          <a:p>
            <a:endParaRPr lang="fr-FR"/>
          </a:p>
        </p:txBody>
      </p:sp>
      <p:sp>
        <p:nvSpPr>
          <p:cNvPr id="17" name="Text 15"/>
          <p:cNvSpPr/>
          <p:nvPr/>
        </p:nvSpPr>
        <p:spPr>
          <a:xfrm>
            <a:off x="768096" y="3543681"/>
            <a:ext cx="285292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Prix ↔ stock</a:t>
            </a:r>
            <a:endParaRPr lang="en-US" sz="1100" dirty="0"/>
          </a:p>
        </p:txBody>
      </p:sp>
      <p:sp>
        <p:nvSpPr>
          <p:cNvPr id="18" name="Text 16"/>
          <p:cNvSpPr/>
          <p:nvPr/>
        </p:nvSpPr>
        <p:spPr>
          <a:xfrm>
            <a:off x="3694176" y="3543681"/>
            <a:ext cx="358444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Relation faible</a:t>
            </a:r>
            <a:endParaRPr lang="en-US" sz="1100" dirty="0"/>
          </a:p>
        </p:txBody>
      </p:sp>
      <p:sp>
        <p:nvSpPr>
          <p:cNvPr id="19" name="Text 17"/>
          <p:cNvSpPr/>
          <p:nvPr/>
        </p:nvSpPr>
        <p:spPr>
          <a:xfrm>
            <a:off x="7351776" y="3543681"/>
            <a:ext cx="4133088" cy="47548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Pas de lien direct robuste identifié</a:t>
            </a:r>
            <a:endParaRPr lang="en-US" sz="1100" dirty="0"/>
          </a:p>
        </p:txBody>
      </p:sp>
      <p:sp>
        <p:nvSpPr>
          <p:cNvPr id="20" name="Shape 18"/>
          <p:cNvSpPr/>
          <p:nvPr/>
        </p:nvSpPr>
        <p:spPr>
          <a:xfrm>
            <a:off x="731520" y="4046601"/>
            <a:ext cx="10789920" cy="0"/>
          </a:xfrm>
          <a:prstGeom prst="line">
            <a:avLst/>
          </a:prstGeom>
          <a:noFill/>
          <a:ln w="6350">
            <a:solidFill>
              <a:srgbClr val="D8D2C5"/>
            </a:solidFill>
            <a:prstDash val="solid"/>
          </a:ln>
        </p:spPr>
        <p:txBody>
          <a:bodyPr/>
          <a:lstStyle/>
          <a:p>
            <a:endParaRPr lang="fr-FR"/>
          </a:p>
        </p:txBody>
      </p:sp>
      <p:sp>
        <p:nvSpPr>
          <p:cNvPr id="21" name="Text 19"/>
          <p:cNvSpPr/>
          <p:nvPr/>
        </p:nvSpPr>
        <p:spPr>
          <a:xfrm>
            <a:off x="868680" y="5089398"/>
            <a:ext cx="10515600" cy="1371600"/>
          </a:xfrm>
          <a:prstGeom prst="rect">
            <a:avLst/>
          </a:prstGeom>
          <a:noFill/>
          <a:ln/>
        </p:spPr>
        <p:txBody>
          <a:bodyPr wrap="square" lIns="635" tIns="635" rIns="635" bIns="635" rtlCol="0" anchor="t">
            <a:normAutofit/>
          </a:bodyPr>
          <a:lstStyle/>
          <a:p>
            <a:r>
              <a:rPr lang="en-US" sz="1600" dirty="0">
                <a:solidFill>
                  <a:srgbClr val="171A1F"/>
                </a:solidFill>
              </a:rPr>
              <a:t>Une corrélation faible ne permet pas de conclure à une </a:t>
            </a:r>
            <a:r>
              <a:rPr lang="en-US" sz="1600" dirty="0" err="1">
                <a:solidFill>
                  <a:srgbClr val="171A1F"/>
                </a:solidFill>
              </a:rPr>
              <a:t>causalité</a:t>
            </a:r>
            <a:r>
              <a:rPr lang="en-US" sz="1600" dirty="0">
                <a:solidFill>
                  <a:srgbClr val="171A1F"/>
                </a:solidFill>
              </a:rPr>
              <a:t>.</a:t>
            </a:r>
          </a:p>
          <a:p>
            <a:endParaRPr lang="en-US" sz="1600" dirty="0"/>
          </a:p>
          <a:p>
            <a:r>
              <a:rPr lang="en-US" sz="1600" dirty="0">
                <a:solidFill>
                  <a:srgbClr val="171A1F"/>
                </a:solidFill>
              </a:rPr>
              <a:t>Pour approfondir, il faut croiser avec le type de produit, la saisonnalité, la marge et la disponibilité stock.</a:t>
            </a:r>
          </a:p>
          <a:p>
            <a:endParaRPr lang="en-US" sz="1600" dirty="0"/>
          </a:p>
          <a:p>
            <a:r>
              <a:rPr lang="en-US" sz="1600" dirty="0">
                <a:solidFill>
                  <a:srgbClr val="171A1F"/>
                </a:solidFill>
              </a:rPr>
              <a:t>La décision métier doit reposer sur plusieurs indicateurs, pas sur une seule variable.</a:t>
            </a:r>
            <a:endParaRPr lang="en-US" sz="16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16</a:t>
            </a:fld>
            <a:endParaRPr lang="en-US"/>
          </a:p>
        </p:txBody>
      </p:sp>
      <p:pic>
        <p:nvPicPr>
          <p:cNvPr id="23" name="Image 22">
            <a:extLst>
              <a:ext uri="{FF2B5EF4-FFF2-40B4-BE49-F238E27FC236}">
                <a16:creationId xmlns:a16="http://schemas.microsoft.com/office/drawing/2014/main" id="{8D4A12FF-4953-5454-6B63-DE91599F301E}"/>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RECOMMANDATIONS</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Recommandations pour la mise en place de l’ERP</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868680" y="2059614"/>
            <a:ext cx="4297680" cy="228600"/>
          </a:xfrm>
          <a:prstGeom prst="rect">
            <a:avLst/>
          </a:prstGeom>
          <a:noFill/>
          <a:ln/>
        </p:spPr>
        <p:txBody>
          <a:bodyPr wrap="square" lIns="0" tIns="0" rIns="0" bIns="0" rtlCol="0" anchor="ctr"/>
          <a:lstStyle/>
          <a:p>
            <a:pPr marL="0" indent="0">
              <a:buNone/>
            </a:pPr>
            <a:r>
              <a:rPr lang="en-US" sz="1000" b="1" dirty="0">
                <a:solidFill>
                  <a:srgbClr val="33A5B6"/>
                </a:solidFill>
              </a:rPr>
              <a:t>FIABILITÉ DES DONNÉES</a:t>
            </a:r>
            <a:endParaRPr lang="en-US" sz="1000" dirty="0"/>
          </a:p>
        </p:txBody>
      </p:sp>
      <p:sp>
        <p:nvSpPr>
          <p:cNvPr id="6" name="Shape 4"/>
          <p:cNvSpPr/>
          <p:nvPr/>
        </p:nvSpPr>
        <p:spPr>
          <a:xfrm>
            <a:off x="868680" y="2352222"/>
            <a:ext cx="4297680" cy="0"/>
          </a:xfrm>
          <a:prstGeom prst="line">
            <a:avLst/>
          </a:prstGeom>
          <a:noFill/>
          <a:ln w="15240">
            <a:solidFill>
              <a:srgbClr val="33A5B6"/>
            </a:solidFill>
            <a:prstDash val="solid"/>
          </a:ln>
        </p:spPr>
        <p:txBody>
          <a:bodyPr/>
          <a:lstStyle/>
          <a:p>
            <a:endParaRPr lang="fr-FR"/>
          </a:p>
        </p:txBody>
      </p:sp>
      <p:sp>
        <p:nvSpPr>
          <p:cNvPr id="7" name="Text 5"/>
          <p:cNvSpPr/>
          <p:nvPr/>
        </p:nvSpPr>
        <p:spPr>
          <a:xfrm>
            <a:off x="914400" y="2471094"/>
            <a:ext cx="5120640" cy="1828800"/>
          </a:xfrm>
          <a:prstGeom prst="rect">
            <a:avLst/>
          </a:prstGeom>
          <a:noFill/>
          <a:ln/>
        </p:spPr>
        <p:txBody>
          <a:bodyPr wrap="square" lIns="635" tIns="635" rIns="635" bIns="635" rtlCol="0" anchor="t">
            <a:normAutofit/>
          </a:bodyPr>
          <a:lstStyle/>
          <a:p>
            <a:r>
              <a:rPr lang="en-US" sz="1500" dirty="0">
                <a:solidFill>
                  <a:srgbClr val="171A1F"/>
                </a:solidFill>
              </a:rPr>
              <a:t>Bloquer les prix de vente négatifs et stocks négatifs dès la </a:t>
            </a:r>
            <a:r>
              <a:rPr lang="en-US" sz="1500" dirty="0" err="1">
                <a:solidFill>
                  <a:srgbClr val="171A1F"/>
                </a:solidFill>
              </a:rPr>
              <a:t>saisie</a:t>
            </a:r>
            <a:r>
              <a:rPr lang="en-US" sz="1500" dirty="0">
                <a:solidFill>
                  <a:srgbClr val="171A1F"/>
                </a:solidFill>
              </a:rPr>
              <a:t>.</a:t>
            </a:r>
          </a:p>
          <a:p>
            <a:endParaRPr lang="en-US" sz="1500" dirty="0"/>
          </a:p>
          <a:p>
            <a:r>
              <a:rPr lang="en-US" sz="1500" dirty="0">
                <a:solidFill>
                  <a:srgbClr val="171A1F"/>
                </a:solidFill>
              </a:rPr>
              <a:t>Recalculer automatiquement le statut de stock depuis la </a:t>
            </a:r>
            <a:r>
              <a:rPr lang="en-US" sz="1500" dirty="0" err="1">
                <a:solidFill>
                  <a:srgbClr val="171A1F"/>
                </a:solidFill>
              </a:rPr>
              <a:t>quantité</a:t>
            </a:r>
            <a:r>
              <a:rPr lang="en-US" sz="1500" dirty="0">
                <a:solidFill>
                  <a:srgbClr val="171A1F"/>
                </a:solidFill>
              </a:rPr>
              <a:t>.</a:t>
            </a:r>
          </a:p>
          <a:p>
            <a:endParaRPr lang="en-US" sz="1500" dirty="0"/>
          </a:p>
          <a:p>
            <a:r>
              <a:rPr lang="en-US" sz="1500" dirty="0">
                <a:solidFill>
                  <a:srgbClr val="171A1F"/>
                </a:solidFill>
              </a:rPr>
              <a:t>Rendre les clés product_id et sku obligatoires et uniques.</a:t>
            </a:r>
            <a:endParaRPr lang="en-US" sz="1500" dirty="0"/>
          </a:p>
        </p:txBody>
      </p:sp>
      <p:sp>
        <p:nvSpPr>
          <p:cNvPr id="8" name="Text 6"/>
          <p:cNvSpPr/>
          <p:nvPr/>
        </p:nvSpPr>
        <p:spPr>
          <a:xfrm>
            <a:off x="6400800" y="2059614"/>
            <a:ext cx="4297680" cy="228600"/>
          </a:xfrm>
          <a:prstGeom prst="rect">
            <a:avLst/>
          </a:prstGeom>
          <a:noFill/>
          <a:ln/>
        </p:spPr>
        <p:txBody>
          <a:bodyPr wrap="square" lIns="0" tIns="0" rIns="0" bIns="0" rtlCol="0" anchor="ctr"/>
          <a:lstStyle/>
          <a:p>
            <a:pPr marL="0" indent="0">
              <a:buNone/>
            </a:pPr>
            <a:r>
              <a:rPr lang="en-US" sz="1000" b="1" dirty="0">
                <a:solidFill>
                  <a:srgbClr val="33A5B6"/>
                </a:solidFill>
              </a:rPr>
              <a:t>PILOTAGE MÉTIER</a:t>
            </a:r>
            <a:endParaRPr lang="en-US" sz="1000" dirty="0"/>
          </a:p>
        </p:txBody>
      </p:sp>
      <p:sp>
        <p:nvSpPr>
          <p:cNvPr id="9" name="Shape 7"/>
          <p:cNvSpPr/>
          <p:nvPr/>
        </p:nvSpPr>
        <p:spPr>
          <a:xfrm>
            <a:off x="6400800" y="2352222"/>
            <a:ext cx="4297680" cy="0"/>
          </a:xfrm>
          <a:prstGeom prst="line">
            <a:avLst/>
          </a:prstGeom>
          <a:noFill/>
          <a:ln w="15240">
            <a:solidFill>
              <a:srgbClr val="33A5B6"/>
            </a:solidFill>
            <a:prstDash val="solid"/>
          </a:ln>
        </p:spPr>
        <p:txBody>
          <a:bodyPr/>
          <a:lstStyle/>
          <a:p>
            <a:endParaRPr lang="fr-FR"/>
          </a:p>
        </p:txBody>
      </p:sp>
      <p:sp>
        <p:nvSpPr>
          <p:cNvPr id="10" name="Text 8"/>
          <p:cNvSpPr/>
          <p:nvPr/>
        </p:nvSpPr>
        <p:spPr>
          <a:xfrm>
            <a:off x="6446520" y="2471094"/>
            <a:ext cx="4937760" cy="1828800"/>
          </a:xfrm>
          <a:prstGeom prst="rect">
            <a:avLst/>
          </a:prstGeom>
          <a:noFill/>
          <a:ln/>
        </p:spPr>
        <p:txBody>
          <a:bodyPr wrap="square" lIns="635" tIns="635" rIns="635" bIns="635" rtlCol="0" anchor="t">
            <a:normAutofit/>
          </a:bodyPr>
          <a:lstStyle/>
          <a:p>
            <a:r>
              <a:rPr lang="en-US" sz="1500" dirty="0">
                <a:solidFill>
                  <a:srgbClr val="171A1F"/>
                </a:solidFill>
              </a:rPr>
              <a:t>Créer des alertes sur marge négative, surstock et absence de correspondance web.</a:t>
            </a:r>
          </a:p>
          <a:p>
            <a:endParaRPr lang="en-US" sz="1500" dirty="0"/>
          </a:p>
          <a:p>
            <a:r>
              <a:rPr lang="en-US" sz="1500" dirty="0">
                <a:solidFill>
                  <a:srgbClr val="171A1F"/>
                </a:solidFill>
              </a:rPr>
              <a:t>Standardiser un tableau de bord CA, ventes, stock et marge.</a:t>
            </a:r>
          </a:p>
          <a:p>
            <a:endParaRPr lang="en-US" sz="1500" dirty="0"/>
          </a:p>
          <a:p>
            <a:r>
              <a:rPr lang="en-US" sz="1500" dirty="0">
                <a:solidFill>
                  <a:srgbClr val="171A1F"/>
                </a:solidFill>
              </a:rPr>
              <a:t>Documenter les règles de correction et les arbitrages métier.</a:t>
            </a:r>
            <a:endParaRPr lang="en-US" sz="1500" dirty="0"/>
          </a:p>
        </p:txBody>
      </p:sp>
      <p:sp>
        <p:nvSpPr>
          <p:cNvPr id="11" name="Text 9"/>
          <p:cNvSpPr/>
          <p:nvPr/>
        </p:nvSpPr>
        <p:spPr>
          <a:xfrm>
            <a:off x="868680" y="5488614"/>
            <a:ext cx="10332720" cy="548640"/>
          </a:xfrm>
          <a:prstGeom prst="rect">
            <a:avLst/>
          </a:prstGeom>
          <a:noFill/>
          <a:ln/>
        </p:spPr>
        <p:txBody>
          <a:bodyPr wrap="square" lIns="381" tIns="381" rIns="381" bIns="381" rtlCol="0" anchor="t">
            <a:normAutofit/>
          </a:bodyPr>
          <a:lstStyle/>
          <a:p>
            <a:pPr marL="0" indent="0">
              <a:buNone/>
            </a:pPr>
            <a:r>
              <a:rPr lang="en-US" sz="1900" b="1" dirty="0">
                <a:solidFill>
                  <a:srgbClr val="FF7200"/>
                </a:solidFill>
              </a:rPr>
              <a:t>Priorité : passer d’une correction </a:t>
            </a:r>
            <a:r>
              <a:rPr lang="en-US" sz="1900" b="1" dirty="0" err="1">
                <a:solidFill>
                  <a:srgbClr val="FF7200"/>
                </a:solidFill>
              </a:rPr>
              <a:t>manuelle</a:t>
            </a:r>
            <a:r>
              <a:rPr lang="en-US" sz="1900" b="1" dirty="0">
                <a:solidFill>
                  <a:srgbClr val="FF7200"/>
                </a:solidFill>
              </a:rPr>
              <a:t> à un contrôle automatique dans le système source.</a:t>
            </a:r>
            <a:endParaRPr lang="en-US" sz="19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17</a:t>
            </a:fld>
            <a:endParaRPr lang="en-US"/>
          </a:p>
        </p:txBody>
      </p:sp>
      <p:pic>
        <p:nvPicPr>
          <p:cNvPr id="13" name="Image 12">
            <a:extLst>
              <a:ext uri="{FF2B5EF4-FFF2-40B4-BE49-F238E27FC236}">
                <a16:creationId xmlns:a16="http://schemas.microsoft.com/office/drawing/2014/main" id="{B4BE4E55-D340-D6CC-AFBC-02A07A0464FC}"/>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66928" y="384048"/>
            <a:ext cx="4206240" cy="201168"/>
          </a:xfrm>
          <a:prstGeom prst="rect">
            <a:avLst/>
          </a:prstGeom>
          <a:noFill/>
          <a:ln/>
        </p:spPr>
        <p:txBody>
          <a:bodyPr wrap="square" lIns="0" tIns="0" rIns="0" bIns="0" rtlCol="0" anchor="ctr"/>
          <a:lstStyle/>
          <a:p>
            <a:pPr marL="0" indent="0">
              <a:buNone/>
            </a:pPr>
            <a:r>
              <a:rPr lang="en-US" sz="800" b="1" dirty="0">
                <a:solidFill>
                  <a:srgbClr val="FF7200"/>
                </a:solidFill>
              </a:rPr>
              <a:t>RECOMMANDATIONS</a:t>
            </a:r>
            <a:endParaRPr lang="en-US" sz="800" dirty="0"/>
          </a:p>
        </p:txBody>
      </p:sp>
      <p:sp>
        <p:nvSpPr>
          <p:cNvPr id="3" name="Text 1"/>
          <p:cNvSpPr/>
          <p:nvPr/>
        </p:nvSpPr>
        <p:spPr>
          <a:xfrm>
            <a:off x="566928" y="640080"/>
            <a:ext cx="10424160" cy="457200"/>
          </a:xfrm>
          <a:prstGeom prst="rect">
            <a:avLst/>
          </a:prstGeom>
          <a:noFill/>
          <a:ln/>
        </p:spPr>
        <p:txBody>
          <a:bodyPr wrap="square" lIns="0" tIns="0" rIns="0" bIns="0" rtlCol="0" anchor="ctr"/>
          <a:lstStyle/>
          <a:p>
            <a:pPr marL="0" indent="0">
              <a:buNone/>
            </a:pPr>
            <a:r>
              <a:rPr lang="en-US" sz="2600" b="1" dirty="0">
                <a:solidFill>
                  <a:srgbClr val="171A1F"/>
                </a:solidFill>
              </a:rPr>
              <a:t>Feuille de route proposée</a:t>
            </a:r>
            <a:endParaRPr lang="en-US" sz="2600" dirty="0"/>
          </a:p>
        </p:txBody>
      </p:sp>
      <p:sp>
        <p:nvSpPr>
          <p:cNvPr id="4" name="Shape 2"/>
          <p:cNvSpPr/>
          <p:nvPr/>
        </p:nvSpPr>
        <p:spPr>
          <a:xfrm>
            <a:off x="566928" y="1207008"/>
            <a:ext cx="10972800" cy="0"/>
          </a:xfrm>
          <a:prstGeom prst="line">
            <a:avLst/>
          </a:prstGeom>
          <a:noFill/>
          <a:ln w="12700">
            <a:solidFill>
              <a:srgbClr val="D8D2C5"/>
            </a:solidFill>
            <a:prstDash val="solid"/>
          </a:ln>
        </p:spPr>
        <p:txBody>
          <a:bodyPr/>
          <a:lstStyle/>
          <a:p>
            <a:endParaRPr lang="fr-FR"/>
          </a:p>
        </p:txBody>
      </p:sp>
      <p:sp>
        <p:nvSpPr>
          <p:cNvPr id="5" name="Text 3"/>
          <p:cNvSpPr/>
          <p:nvPr/>
        </p:nvSpPr>
        <p:spPr>
          <a:xfrm>
            <a:off x="793192" y="1859661"/>
            <a:ext cx="1847088" cy="55549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Horizon</a:t>
            </a:r>
            <a:endParaRPr lang="en-US" sz="1100" dirty="0"/>
          </a:p>
        </p:txBody>
      </p:sp>
      <p:sp>
        <p:nvSpPr>
          <p:cNvPr id="6" name="Text 4"/>
          <p:cNvSpPr/>
          <p:nvPr/>
        </p:nvSpPr>
        <p:spPr>
          <a:xfrm>
            <a:off x="2713432" y="1859661"/>
            <a:ext cx="4864608" cy="55549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Action</a:t>
            </a:r>
            <a:endParaRPr lang="en-US" sz="1100" dirty="0"/>
          </a:p>
        </p:txBody>
      </p:sp>
      <p:sp>
        <p:nvSpPr>
          <p:cNvPr id="7" name="Text 5"/>
          <p:cNvSpPr/>
          <p:nvPr/>
        </p:nvSpPr>
        <p:spPr>
          <a:xfrm>
            <a:off x="7651192" y="1859661"/>
            <a:ext cx="3767328" cy="555498"/>
          </a:xfrm>
          <a:prstGeom prst="rect">
            <a:avLst/>
          </a:prstGeom>
          <a:noFill/>
          <a:ln/>
        </p:spPr>
        <p:txBody>
          <a:bodyPr wrap="square" lIns="254" tIns="254" rIns="254" bIns="254" rtlCol="0" anchor="ctr">
            <a:normAutofit/>
          </a:bodyPr>
          <a:lstStyle/>
          <a:p>
            <a:pPr marL="0" indent="0">
              <a:buNone/>
            </a:pPr>
            <a:r>
              <a:rPr lang="en-US" sz="1100" b="1" dirty="0">
                <a:latin typeface="Aptos" pitchFamily="34" charset="0"/>
                <a:ea typeface="Aptos" pitchFamily="34" charset="-122"/>
                <a:cs typeface="Aptos" pitchFamily="34" charset="-120"/>
              </a:rPr>
              <a:t>Bénéfice attendu</a:t>
            </a:r>
            <a:endParaRPr lang="en-US" sz="1100" dirty="0"/>
          </a:p>
        </p:txBody>
      </p:sp>
      <p:sp>
        <p:nvSpPr>
          <p:cNvPr id="8" name="Shape 6"/>
          <p:cNvSpPr/>
          <p:nvPr/>
        </p:nvSpPr>
        <p:spPr>
          <a:xfrm>
            <a:off x="756616" y="2442591"/>
            <a:ext cx="10698480" cy="0"/>
          </a:xfrm>
          <a:prstGeom prst="line">
            <a:avLst/>
          </a:prstGeom>
          <a:noFill/>
          <a:ln w="13970">
            <a:solidFill>
              <a:srgbClr val="1E2A36"/>
            </a:solidFill>
            <a:prstDash val="solid"/>
          </a:ln>
        </p:spPr>
        <p:txBody>
          <a:bodyPr/>
          <a:lstStyle/>
          <a:p>
            <a:endParaRPr lang="fr-FR"/>
          </a:p>
        </p:txBody>
      </p:sp>
      <p:sp>
        <p:nvSpPr>
          <p:cNvPr id="9" name="Text 7"/>
          <p:cNvSpPr/>
          <p:nvPr/>
        </p:nvSpPr>
        <p:spPr>
          <a:xfrm>
            <a:off x="793192" y="2488311"/>
            <a:ext cx="184708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Court terme</a:t>
            </a:r>
            <a:endParaRPr lang="en-US" sz="1100" dirty="0"/>
          </a:p>
        </p:txBody>
      </p:sp>
      <p:sp>
        <p:nvSpPr>
          <p:cNvPr id="10" name="Text 8"/>
          <p:cNvSpPr/>
          <p:nvPr/>
        </p:nvSpPr>
        <p:spPr>
          <a:xfrm>
            <a:off x="2713432" y="2488311"/>
            <a:ext cx="486460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Corriger les anomalies critiques et valider les 4 marges négatives.</a:t>
            </a:r>
            <a:endParaRPr lang="en-US" sz="1100" dirty="0"/>
          </a:p>
        </p:txBody>
      </p:sp>
      <p:sp>
        <p:nvSpPr>
          <p:cNvPr id="11" name="Text 9"/>
          <p:cNvSpPr/>
          <p:nvPr/>
        </p:nvSpPr>
        <p:spPr>
          <a:xfrm>
            <a:off x="7651192" y="2488311"/>
            <a:ext cx="376732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Sécuriser les décisions commerciales immédiates</a:t>
            </a:r>
            <a:endParaRPr lang="en-US" sz="1100" dirty="0"/>
          </a:p>
        </p:txBody>
      </p:sp>
      <p:sp>
        <p:nvSpPr>
          <p:cNvPr id="12" name="Shape 10"/>
          <p:cNvSpPr/>
          <p:nvPr/>
        </p:nvSpPr>
        <p:spPr>
          <a:xfrm>
            <a:off x="756616" y="3071241"/>
            <a:ext cx="10698480" cy="0"/>
          </a:xfrm>
          <a:prstGeom prst="line">
            <a:avLst/>
          </a:prstGeom>
          <a:noFill/>
          <a:ln w="6350">
            <a:solidFill>
              <a:srgbClr val="D8D2C5"/>
            </a:solidFill>
            <a:prstDash val="solid"/>
          </a:ln>
        </p:spPr>
        <p:txBody>
          <a:bodyPr/>
          <a:lstStyle/>
          <a:p>
            <a:endParaRPr lang="fr-FR"/>
          </a:p>
        </p:txBody>
      </p:sp>
      <p:sp>
        <p:nvSpPr>
          <p:cNvPr id="13" name="Text 11"/>
          <p:cNvSpPr/>
          <p:nvPr/>
        </p:nvSpPr>
        <p:spPr>
          <a:xfrm>
            <a:off x="793192" y="3116961"/>
            <a:ext cx="184708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Moyen terme</a:t>
            </a:r>
            <a:endParaRPr lang="en-US" sz="1100" dirty="0"/>
          </a:p>
        </p:txBody>
      </p:sp>
      <p:sp>
        <p:nvSpPr>
          <p:cNvPr id="14" name="Text 12"/>
          <p:cNvSpPr/>
          <p:nvPr/>
        </p:nvSpPr>
        <p:spPr>
          <a:xfrm>
            <a:off x="2713432" y="3116961"/>
            <a:ext cx="486460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Mettre en place contrôles automatiques prix / stock / SKU.</a:t>
            </a:r>
            <a:endParaRPr lang="en-US" sz="1100" dirty="0"/>
          </a:p>
        </p:txBody>
      </p:sp>
      <p:sp>
        <p:nvSpPr>
          <p:cNvPr id="15" name="Text 13"/>
          <p:cNvSpPr/>
          <p:nvPr/>
        </p:nvSpPr>
        <p:spPr>
          <a:xfrm>
            <a:off x="7651192" y="3116961"/>
            <a:ext cx="376732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Réduire les erreurs de saisie et de synchronisation</a:t>
            </a:r>
            <a:endParaRPr lang="en-US" sz="1100" dirty="0"/>
          </a:p>
        </p:txBody>
      </p:sp>
      <p:sp>
        <p:nvSpPr>
          <p:cNvPr id="16" name="Shape 14"/>
          <p:cNvSpPr/>
          <p:nvPr/>
        </p:nvSpPr>
        <p:spPr>
          <a:xfrm>
            <a:off x="756616" y="3699891"/>
            <a:ext cx="10698480" cy="0"/>
          </a:xfrm>
          <a:prstGeom prst="line">
            <a:avLst/>
          </a:prstGeom>
          <a:noFill/>
          <a:ln w="6350">
            <a:solidFill>
              <a:srgbClr val="D8D2C5"/>
            </a:solidFill>
            <a:prstDash val="solid"/>
          </a:ln>
        </p:spPr>
        <p:txBody>
          <a:bodyPr/>
          <a:lstStyle/>
          <a:p>
            <a:endParaRPr lang="fr-FR"/>
          </a:p>
        </p:txBody>
      </p:sp>
      <p:sp>
        <p:nvSpPr>
          <p:cNvPr id="17" name="Text 15"/>
          <p:cNvSpPr/>
          <p:nvPr/>
        </p:nvSpPr>
        <p:spPr>
          <a:xfrm>
            <a:off x="793192" y="3745611"/>
            <a:ext cx="184708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Long terme</a:t>
            </a:r>
            <a:endParaRPr lang="en-US" sz="1100" dirty="0"/>
          </a:p>
        </p:txBody>
      </p:sp>
      <p:sp>
        <p:nvSpPr>
          <p:cNvPr id="18" name="Text 16"/>
          <p:cNvSpPr/>
          <p:nvPr/>
        </p:nvSpPr>
        <p:spPr>
          <a:xfrm>
            <a:off x="2713432" y="3745611"/>
            <a:ext cx="486460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Construire un référentiel produit unique entre ERP et web.</a:t>
            </a:r>
            <a:endParaRPr lang="en-US" sz="1100" dirty="0"/>
          </a:p>
        </p:txBody>
      </p:sp>
      <p:sp>
        <p:nvSpPr>
          <p:cNvPr id="19" name="Text 17"/>
          <p:cNvSpPr/>
          <p:nvPr/>
        </p:nvSpPr>
        <p:spPr>
          <a:xfrm>
            <a:off x="7651192" y="3745611"/>
            <a:ext cx="3767328" cy="555498"/>
          </a:xfrm>
          <a:prstGeom prst="rect">
            <a:avLst/>
          </a:prstGeom>
          <a:noFill/>
          <a:ln/>
        </p:spPr>
        <p:txBody>
          <a:bodyPr wrap="square" lIns="254" tIns="254" rIns="254" bIns="254" rtlCol="0" anchor="ctr">
            <a:normAutofit/>
          </a:bodyPr>
          <a:lstStyle/>
          <a:p>
            <a:pPr marL="0" indent="0">
              <a:buNone/>
            </a:pPr>
            <a:r>
              <a:rPr lang="en-US" sz="1100" dirty="0">
                <a:solidFill>
                  <a:srgbClr val="171A1F"/>
                </a:solidFill>
                <a:latin typeface="Aptos" pitchFamily="34" charset="0"/>
                <a:ea typeface="Aptos" pitchFamily="34" charset="-122"/>
                <a:cs typeface="Aptos" pitchFamily="34" charset="-120"/>
              </a:rPr>
              <a:t>Améliorer le pilotage CA, marge, stock et catalogue</a:t>
            </a:r>
            <a:endParaRPr lang="en-US" sz="1100" dirty="0"/>
          </a:p>
        </p:txBody>
      </p:sp>
      <p:sp>
        <p:nvSpPr>
          <p:cNvPr id="20" name="Shape 18"/>
          <p:cNvSpPr/>
          <p:nvPr/>
        </p:nvSpPr>
        <p:spPr>
          <a:xfrm>
            <a:off x="756616" y="4328541"/>
            <a:ext cx="10698480" cy="0"/>
          </a:xfrm>
          <a:prstGeom prst="line">
            <a:avLst/>
          </a:prstGeom>
          <a:noFill/>
          <a:ln w="6350">
            <a:solidFill>
              <a:srgbClr val="D8D2C5"/>
            </a:solidFill>
            <a:prstDash val="solid"/>
          </a:ln>
        </p:spPr>
        <p:txBody>
          <a:bodyPr/>
          <a:lstStyle/>
          <a:p>
            <a:endParaRPr lang="fr-FR"/>
          </a:p>
        </p:txBody>
      </p:sp>
      <p:sp>
        <p:nvSpPr>
          <p:cNvPr id="21" name="Text 19"/>
          <p:cNvSpPr/>
          <p:nvPr/>
        </p:nvSpPr>
        <p:spPr>
          <a:xfrm>
            <a:off x="868680" y="5488686"/>
            <a:ext cx="10241280" cy="502920"/>
          </a:xfrm>
          <a:prstGeom prst="rect">
            <a:avLst/>
          </a:prstGeom>
          <a:noFill/>
          <a:ln/>
        </p:spPr>
        <p:txBody>
          <a:bodyPr wrap="square" lIns="381" tIns="381" rIns="381" bIns="381" rtlCol="0" anchor="t">
            <a:normAutofit fontScale="92500"/>
          </a:bodyPr>
          <a:lstStyle/>
          <a:p>
            <a:pPr marL="0" indent="0">
              <a:buNone/>
            </a:pPr>
            <a:r>
              <a:rPr lang="en-US" sz="2000" b="1" dirty="0">
                <a:solidFill>
                  <a:srgbClr val="1E2A36"/>
                </a:solidFill>
              </a:rPr>
              <a:t>Cette feuille de route transforme les enseignements de l’analyse en actions opérationnelles.</a:t>
            </a:r>
            <a:endParaRPr lang="en-US" sz="2000" dirty="0"/>
          </a:p>
        </p:txBody>
      </p:sp>
      <p:sp>
        <p:nvSpPr>
          <p:cNvPr id="25" name="Slide Number Placeholder 0"/>
          <p:cNvSpPr>
            <a:spLocks noGrp="1"/>
          </p:cNvSpPr>
          <p:nvPr>
            <p:ph type="sldNum" sz="quarter" idx="4294967295"/>
          </p:nvPr>
        </p:nvSpPr>
        <p:spPr>
          <a:xfrm>
            <a:off x="11018520" y="6419088"/>
            <a:ext cx="800000" cy="300000"/>
          </a:xfrm>
          <a:prstGeom prst="rect">
            <a:avLst/>
          </a:prstGeom>
          <a:extLst>
            <a:ext uri="{C572A759-6A51-4108-AA02-DFA0A04FC94B}">
              <ma14:wrappingTextBoxFlag xmlns="" xmlns:ma14="http://schemas.microsoft.com/office/mac/drawingml/2011/main" val="0"/>
            </a:ext>
          </a:extLst>
        </p:spPr>
        <p:txBody>
          <a:bodyPr/>
          <a:lstStyle>
            <a:lvl1pPr>
              <a:defRPr sz="650">
                <a:solidFill>
                  <a:srgbClr val="7A7468"/>
                </a:solidFill>
                <a:latin typeface="Aptos"/>
                <a:ea typeface="Aptos"/>
                <a:cs typeface="Aptos"/>
              </a:defRPr>
            </a:lvl1pPr>
          </a:lstStyle>
          <a:p>
            <a:pPr algn="l"/>
            <a:fld id="{F7021451-1387-4CA6-816F-3879F97B5CBC}" type="slidenum">
              <a:rPr lang="en-US" b="0"/>
              <a:t>18</a:t>
            </a:fld>
            <a:endParaRPr lang="en-US"/>
          </a:p>
        </p:txBody>
      </p:sp>
      <p:pic>
        <p:nvPicPr>
          <p:cNvPr id="23" name="Image 22">
            <a:extLst>
              <a:ext uri="{FF2B5EF4-FFF2-40B4-BE49-F238E27FC236}">
                <a16:creationId xmlns:a16="http://schemas.microsoft.com/office/drawing/2014/main" id="{65F84196-3C2D-CF0B-A744-9935C7521630}"/>
              </a:ext>
            </a:extLst>
          </p:cNvPr>
          <p:cNvPicPr>
            <a:picLocks noChangeAspect="1"/>
          </p:cNvPicPr>
          <p:nvPr/>
        </p:nvPicPr>
        <p:blipFill>
          <a:blip r:embed="rId2"/>
          <a:stretch>
            <a:fillRect/>
          </a:stretch>
        </p:blipFill>
        <p:spPr>
          <a:xfrm>
            <a:off x="10550106" y="16074"/>
            <a:ext cx="1640152" cy="1193444"/>
          </a:xfrm>
          <a:prstGeom prst="rect">
            <a:avLst/>
          </a:prstGeom>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TotalTime>
  <Words>1444</Words>
  <Application>Microsoft Office PowerPoint</Application>
  <PresentationFormat>Grand écran</PresentationFormat>
  <Paragraphs>294</Paragraphs>
  <Slides>18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du stock et des ventes du site Bottleneck — version finale</dc:title>
  <dc:subject>Présentation finale Projet 6 BI Analyst - Bottleneck</dc:subject>
  <dc:creator>Paco Humbert</dc:creator>
  <cp:lastModifiedBy>paco humbert</cp:lastModifiedBy>
  <cp:revision>2</cp:revision>
  <dcterms:created xsi:type="dcterms:W3CDTF">2026-06-12T09:21:01Z</dcterms:created>
  <dcterms:modified xsi:type="dcterms:W3CDTF">2026-06-25T10:49:53Z</dcterms:modified>
</cp:coreProperties>
</file>